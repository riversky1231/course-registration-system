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60" r:id="rId37"/>
    <p:sldId id="261"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56" d="100"/>
          <a:sy n="56" d="100"/>
        </p:scale>
        <p:origin x="826" y="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21FB85-E95C-40F4-AD9F-38E7B653976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D3F8584-91DC-4DD4-9CED-AA3966F739F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21FB85-E95C-40F4-AD9F-38E7B653976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3F8584-91DC-4DD4-9CED-AA3966F739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zh-CN" b="1" dirty="0"/>
              <a:t>期末项目汇报（</a:t>
            </a:r>
            <a:r>
              <a:rPr lang="en-US" altLang="zh-CN" b="1" dirty="0"/>
              <a:t>Presentation</a:t>
            </a:r>
            <a:r>
              <a:rPr lang="zh-CN" altLang="zh-CN" b="1" dirty="0"/>
              <a:t>）大纲建议</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 </a:t>
            </a:r>
            <a:r>
              <a:rPr lang="zh-CN" altLang="zh-CN" b="1" dirty="0"/>
              <a:t>项目概况与成员分工</a:t>
            </a:r>
            <a:r>
              <a:rPr lang="en-US" altLang="zh-CN" b="1" dirty="0"/>
              <a:t> (1-2 min)</a:t>
            </a:r>
            <a:endParaRPr lang="zh-CN" altLang="en-US" dirty="0"/>
          </a:p>
        </p:txBody>
      </p:sp>
      <p:sp>
        <p:nvSpPr>
          <p:cNvPr id="3" name="内容占位符 2"/>
          <p:cNvSpPr>
            <a:spLocks noGrp="1"/>
          </p:cNvSpPr>
          <p:nvPr>
            <p:ph idx="1"/>
          </p:nvPr>
        </p:nvSpPr>
        <p:spPr/>
        <p:txBody>
          <a:bodyPr>
            <a:normAutofit/>
          </a:bodyPr>
          <a:lstStyle/>
          <a:p>
            <a:pPr lvl="0">
              <a:lnSpc>
                <a:spcPct val="150000"/>
              </a:lnSpc>
            </a:pPr>
            <a:r>
              <a:rPr lang="zh-CN" altLang="zh-CN" b="1" dirty="0"/>
              <a:t>项目背景</a:t>
            </a:r>
            <a:r>
              <a:rPr lang="zh-CN" altLang="zh-CN" dirty="0"/>
              <a:t>：简单介绍</a:t>
            </a:r>
            <a:r>
              <a:rPr lang="en-US" altLang="zh-CN" dirty="0"/>
              <a:t> Web </a:t>
            </a:r>
            <a:r>
              <a:rPr lang="zh-CN" altLang="zh-CN" dirty="0"/>
              <a:t>网页的功能（如：电商平台、图书管理系统等）。</a:t>
            </a:r>
            <a:endParaRPr lang="zh-CN" altLang="zh-CN" dirty="0"/>
          </a:p>
          <a:p>
            <a:pPr lvl="0">
              <a:lnSpc>
                <a:spcPct val="150000"/>
              </a:lnSpc>
            </a:pPr>
            <a:r>
              <a:rPr lang="zh-CN" altLang="zh-CN" b="1" dirty="0"/>
              <a:t>团队分工</a:t>
            </a:r>
            <a:r>
              <a:rPr lang="zh-CN" altLang="zh-CN" dirty="0"/>
              <a:t>：明确每位成员在测试计划、用例编写、自动化执行、文档汇总中的具体贡献。</a:t>
            </a:r>
            <a:endParaRPr lang="zh-CN"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 </a:t>
            </a:r>
            <a:r>
              <a:rPr lang="zh-CN" altLang="zh-CN" b="1" dirty="0"/>
              <a:t>黑盒测试实战</a:t>
            </a:r>
            <a:r>
              <a:rPr lang="en-US" altLang="zh-CN" b="1" dirty="0"/>
              <a:t> (4-5 min)</a:t>
            </a:r>
            <a:endParaRPr lang="zh-CN" altLang="en-US" dirty="0"/>
          </a:p>
        </p:txBody>
      </p:sp>
      <p:sp>
        <p:nvSpPr>
          <p:cNvPr id="3" name="内容占位符 2"/>
          <p:cNvSpPr>
            <a:spLocks noGrp="1"/>
          </p:cNvSpPr>
          <p:nvPr>
            <p:ph idx="1"/>
          </p:nvPr>
        </p:nvSpPr>
        <p:spPr/>
        <p:txBody>
          <a:bodyPr>
            <a:normAutofit/>
          </a:bodyPr>
          <a:lstStyle/>
          <a:p>
            <a:pPr lvl="0">
              <a:lnSpc>
                <a:spcPct val="150000"/>
              </a:lnSpc>
            </a:pPr>
            <a:r>
              <a:rPr lang="zh-CN" altLang="zh-CN" b="1" dirty="0"/>
              <a:t>等价类与边界值</a:t>
            </a:r>
            <a:r>
              <a:rPr lang="zh-CN" altLang="zh-CN" dirty="0"/>
              <a:t>：针对系统核心输入框（如注册、金额输入），展示如何划分有效</a:t>
            </a:r>
            <a:r>
              <a:rPr lang="en-US" altLang="zh-CN" dirty="0"/>
              <a:t>/</a:t>
            </a:r>
            <a:r>
              <a:rPr lang="zh-CN" altLang="zh-CN" dirty="0"/>
              <a:t>无效等价类，并列出临界值取点。</a:t>
            </a:r>
            <a:endParaRPr lang="zh-CN" altLang="zh-CN" dirty="0"/>
          </a:p>
          <a:p>
            <a:pPr lvl="0">
              <a:lnSpc>
                <a:spcPct val="150000"/>
              </a:lnSpc>
            </a:pPr>
            <a:r>
              <a:rPr lang="zh-CN" altLang="zh-CN" b="1" dirty="0"/>
              <a:t>决策表测试</a:t>
            </a:r>
            <a:r>
              <a:rPr lang="zh-CN" altLang="zh-CN" dirty="0"/>
              <a:t>：针对复杂的业务逻辑（如：多重优惠券叠加逻辑），展示决策表推导过程及最终生成的测试用例。</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 </a:t>
            </a:r>
            <a:r>
              <a:rPr lang="zh-CN" altLang="zh-CN" b="1" dirty="0"/>
              <a:t>白盒测试与覆盖率分析</a:t>
            </a:r>
            <a:r>
              <a:rPr lang="en-US" altLang="zh-CN" b="1" dirty="0"/>
              <a:t> (4-5 min)</a:t>
            </a:r>
            <a:endParaRPr lang="zh-CN" altLang="en-US" dirty="0"/>
          </a:p>
        </p:txBody>
      </p:sp>
      <p:sp>
        <p:nvSpPr>
          <p:cNvPr id="3" name="内容占位符 2"/>
          <p:cNvSpPr>
            <a:spLocks noGrp="1"/>
          </p:cNvSpPr>
          <p:nvPr>
            <p:ph idx="1"/>
          </p:nvPr>
        </p:nvSpPr>
        <p:spPr/>
        <p:txBody>
          <a:bodyPr>
            <a:normAutofit/>
          </a:bodyPr>
          <a:lstStyle/>
          <a:p>
            <a:pPr lvl="0">
              <a:lnSpc>
                <a:spcPct val="150000"/>
              </a:lnSpc>
            </a:pPr>
            <a:r>
              <a:rPr lang="zh-CN" altLang="zh-CN" b="1" dirty="0"/>
              <a:t>逻辑覆盖</a:t>
            </a:r>
            <a:r>
              <a:rPr lang="zh-CN" altLang="zh-CN" dirty="0"/>
              <a:t>：选取一段后端或前端核心函数代码（如权限校验、复杂算法），展示其</a:t>
            </a:r>
            <a:r>
              <a:rPr lang="zh-CN" altLang="zh-CN" b="1" dirty="0"/>
              <a:t>控制流图</a:t>
            </a:r>
            <a:r>
              <a:rPr lang="en-US" altLang="zh-CN" b="1" dirty="0"/>
              <a:t> (CFG)</a:t>
            </a:r>
            <a:r>
              <a:rPr lang="zh-CN" altLang="zh-CN" dirty="0"/>
              <a:t>。</a:t>
            </a:r>
            <a:endParaRPr lang="zh-CN" altLang="zh-CN" dirty="0"/>
          </a:p>
          <a:p>
            <a:pPr lvl="0">
              <a:lnSpc>
                <a:spcPct val="150000"/>
              </a:lnSpc>
            </a:pPr>
            <a:r>
              <a:rPr lang="zh-CN" altLang="zh-CN" b="1" dirty="0"/>
              <a:t>覆盖准则体现</a:t>
            </a:r>
            <a:r>
              <a:rPr lang="zh-CN" altLang="zh-CN" dirty="0"/>
              <a:t>：对比展示语句覆盖、判定覆盖及条件覆盖</a:t>
            </a:r>
            <a:r>
              <a:rPr lang="en-US" altLang="zh-CN" dirty="0"/>
              <a:t>,</a:t>
            </a:r>
            <a:r>
              <a:rPr lang="zh-CN" altLang="en-US" dirty="0"/>
              <a:t>判定/条件覆盖</a:t>
            </a:r>
            <a:r>
              <a:rPr lang="zh-CN" altLang="zh-CN" dirty="0"/>
              <a:t>的用例差异，并说明是否达到了预期覆盖率。</a:t>
            </a:r>
            <a:endParaRPr lang="zh-CN"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solidFill>
                  <a:srgbClr val="000000"/>
                </a:solidFill>
                <a:effectLst>
                  <a:outerShdw blurRad="38100" dist="38100" dir="2700000" algn="tl">
                    <a:srgbClr val="FFFFFF"/>
                  </a:outerShdw>
                </a:effectLst>
                <a:latin typeface="Comic Sans MS" panose="030F0702030302020204" pitchFamily="66" charset="0"/>
                <a:cs typeface="Arial" panose="020B0604020202020204" pitchFamily="34" charset="0"/>
              </a:rPr>
              <a:t>Graphs Coverage &amp; Logic Coverage</a:t>
            </a:r>
            <a:endParaRPr lang="zh-CN" altLang="en-US" dirty="0"/>
          </a:p>
        </p:txBody>
      </p:sp>
      <p:sp>
        <p:nvSpPr>
          <p:cNvPr id="3" name="内容占位符 2"/>
          <p:cNvSpPr>
            <a:spLocks noGrp="1"/>
          </p:cNvSpPr>
          <p:nvPr>
            <p:ph idx="1"/>
          </p:nvPr>
        </p:nvSpPr>
        <p:spPr/>
        <p:txBody>
          <a:bodyPr/>
          <a:lstStyle/>
          <a:p>
            <a:r>
              <a:rPr lang="zh-CN" altLang="en-US" dirty="0"/>
              <a:t>图覆盖和逻辑覆盖</a:t>
            </a:r>
            <a:endParaRPr lang="zh-CN" altLang="en-US" dirty="0"/>
          </a:p>
          <a:p>
            <a:r>
              <a:rPr lang="zh-CN" altLang="en-US" dirty="0"/>
              <a:t>一个图 </a:t>
            </a:r>
            <a:r>
              <a:rPr lang="en-US" altLang="zh-CN" dirty="0"/>
              <a:t>G </a:t>
            </a:r>
            <a:r>
              <a:rPr lang="zh-CN" altLang="en-US" dirty="0"/>
              <a:t>可以被形式化地定义为：</a:t>
            </a:r>
            <a:endParaRPr lang="zh-CN" altLang="en-US" dirty="0"/>
          </a:p>
          <a:p>
            <a:r>
              <a:rPr lang="zh-CN" altLang="en-US" dirty="0"/>
              <a:t>• 一个节点的集合 </a:t>
            </a:r>
            <a:r>
              <a:rPr lang="en-US" altLang="zh-CN" dirty="0"/>
              <a:t>N</a:t>
            </a:r>
            <a:endParaRPr lang="en-US" altLang="zh-CN" dirty="0"/>
          </a:p>
          <a:p>
            <a:r>
              <a:rPr lang="en-US" altLang="zh-CN" dirty="0"/>
              <a:t> </a:t>
            </a:r>
            <a:r>
              <a:rPr lang="zh-CN" altLang="en-US" dirty="0"/>
              <a:t>• 一个初始节点的集合 </a:t>
            </a:r>
            <a:r>
              <a:rPr lang="en-US" altLang="zh-CN" dirty="0"/>
              <a:t>N0​，</a:t>
            </a:r>
            <a:r>
              <a:rPr lang="zh-CN" altLang="en-US" dirty="0"/>
              <a:t>其中 </a:t>
            </a:r>
            <a:r>
              <a:rPr lang="en-US" altLang="zh-CN" dirty="0"/>
              <a:t>N0​⊆N</a:t>
            </a:r>
            <a:endParaRPr lang="en-US" altLang="zh-CN" dirty="0"/>
          </a:p>
          <a:p>
            <a:r>
              <a:rPr lang="zh-CN" altLang="en-US" dirty="0"/>
              <a:t>• 一个终止节点的集合 </a:t>
            </a:r>
            <a:r>
              <a:rPr lang="en-US" altLang="zh-CN" dirty="0"/>
              <a:t>Nf​，</a:t>
            </a:r>
            <a:r>
              <a:rPr lang="zh-CN" altLang="en-US" dirty="0"/>
              <a:t>其中 </a:t>
            </a:r>
            <a:r>
              <a:rPr lang="en-US" altLang="zh-CN" dirty="0"/>
              <a:t>Nf​⊆N</a:t>
            </a:r>
            <a:endParaRPr lang="en-US" altLang="zh-CN" dirty="0"/>
          </a:p>
          <a:p>
            <a:r>
              <a:rPr lang="zh-CN" altLang="en-US" dirty="0"/>
              <a:t>• 一个边的集合 </a:t>
            </a:r>
            <a:r>
              <a:rPr lang="en-US" altLang="zh-CN" dirty="0"/>
              <a:t>E，E </a:t>
            </a:r>
            <a:r>
              <a:rPr lang="zh-CN" altLang="en-US" dirty="0"/>
              <a:t>是 </a:t>
            </a:r>
            <a:r>
              <a:rPr lang="en-US" altLang="zh-CN" dirty="0"/>
              <a:t>N×N</a:t>
            </a:r>
            <a:r>
              <a:rPr lang="zh-CN" altLang="en-US" dirty="0"/>
              <a:t>的一个子集</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路径（</a:t>
            </a:r>
            <a:r>
              <a:rPr lang="en-US" altLang="zh-CN"/>
              <a:t>path）</a:t>
            </a:r>
            <a:r>
              <a:rPr lang="zh-CN" altLang="en-US"/>
              <a:t>是一个节点序列 [</a:t>
            </a:r>
            <a:r>
              <a:rPr lang="en-US" altLang="zh-CN"/>
              <a:t>n1​,n2​,⋯,nM​]，</a:t>
            </a:r>
            <a:r>
              <a:rPr lang="zh-CN" altLang="en-US"/>
              <a:t>其中每对邻近节点 (</a:t>
            </a:r>
            <a:r>
              <a:rPr lang="en-US" altLang="zh-CN"/>
              <a:t>ni​,ni+1​)，1⩽i⩽M，</a:t>
            </a:r>
            <a:r>
              <a:rPr lang="zh-CN" altLang="en-US"/>
              <a:t>属于边集合 </a:t>
            </a:r>
            <a:r>
              <a:rPr lang="en-US" altLang="zh-CN"/>
              <a:t>E。</a:t>
            </a:r>
            <a:r>
              <a:rPr lang="zh-CN" altLang="en-US"/>
              <a:t>路径的长度被定义为所包含边的数目。我们有时会考虑长度为零的路径和子路径。路径 </a:t>
            </a:r>
            <a:r>
              <a:rPr lang="en-US" altLang="zh-CN"/>
              <a:t>p</a:t>
            </a:r>
            <a:r>
              <a:rPr lang="zh-CN" altLang="en-US"/>
              <a:t>的子路径（</a:t>
            </a:r>
            <a:r>
              <a:rPr lang="en-US" altLang="zh-CN"/>
              <a:t>subpath）</a:t>
            </a:r>
            <a:r>
              <a:rPr lang="zh-CN" altLang="en-US"/>
              <a:t>是 </a:t>
            </a:r>
            <a:r>
              <a:rPr lang="en-US" altLang="zh-CN"/>
              <a:t>p</a:t>
            </a:r>
            <a:r>
              <a:rPr lang="zh-CN" altLang="en-US"/>
              <a:t>的一个子序列（也可能是 </a:t>
            </a:r>
            <a:r>
              <a:rPr lang="en-US" altLang="zh-CN"/>
              <a:t>p</a:t>
            </a:r>
            <a:r>
              <a:rPr lang="zh-CN" altLang="en-US"/>
              <a:t>自己）。根据边的概念，我们说路径是起始于该路径的第一个节点，终止于该路径的最后一个节点。有时我们也可以说一条路径起始于（或者终止于）一条边 </a:t>
            </a:r>
            <a:r>
              <a:rPr lang="en-US" altLang="zh-CN"/>
              <a:t>e，</a:t>
            </a:r>
            <a:r>
              <a:rPr lang="zh-CN" altLang="en-US"/>
              <a:t>即 </a:t>
            </a:r>
            <a:r>
              <a:rPr lang="en-US" altLang="zh-CN"/>
              <a:t>e</a:t>
            </a:r>
            <a:r>
              <a:rPr lang="zh-CN" altLang="en-US"/>
              <a:t>是路径中的第（或者最后）一条边。自环（</a:t>
            </a:r>
            <a:r>
              <a:rPr lang="en-US" altLang="zh-CN"/>
              <a:t>cycle）</a:t>
            </a:r>
            <a:r>
              <a:rPr lang="zh-CN" altLang="en-US"/>
              <a:t>是一条初始节点和终止节点相同的路径。</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测试路径（</a:t>
            </a:r>
            <a:r>
              <a:rPr lang="en-US" altLang="zh-CN"/>
              <a:t>Test Path）</a:t>
            </a:r>
            <a:r>
              <a:rPr lang="zh-CN" altLang="en-US"/>
              <a:t>一条长度可能为零的路径 </a:t>
            </a:r>
            <a:r>
              <a:rPr lang="en-US" altLang="zh-CN"/>
              <a:t>p，</a:t>
            </a:r>
            <a:r>
              <a:rPr lang="zh-CN" altLang="en-US"/>
              <a:t>它起始于 </a:t>
            </a:r>
            <a:r>
              <a:rPr lang="en-US" altLang="zh-CN"/>
              <a:t>N0​</a:t>
            </a:r>
            <a:r>
              <a:rPr lang="zh-CN" altLang="en-US"/>
              <a:t>中的某个节点，终止于 </a:t>
            </a:r>
            <a:r>
              <a:rPr lang="en-US" altLang="zh-CN"/>
              <a:t>Nf​</a:t>
            </a:r>
            <a:r>
              <a:rPr lang="zh-CN" altLang="en-US"/>
              <a:t>中的某个节点。</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7.31 图覆盖（</a:t>
            </a:r>
            <a:r>
              <a:rPr lang="en-US" altLang="zh-CN"/>
              <a:t>Graph Coverage）</a:t>
            </a:r>
            <a:r>
              <a:rPr lang="zh-CN" altLang="en-US"/>
              <a:t>给定一个图覆盖准则 </a:t>
            </a:r>
            <a:r>
              <a:rPr lang="en-US" altLang="zh-CN"/>
              <a:t>C </a:t>
            </a:r>
            <a:r>
              <a:rPr lang="zh-CN" altLang="en-US"/>
              <a:t>所包含的测试需求集 </a:t>
            </a:r>
            <a:r>
              <a:rPr lang="en-US" altLang="zh-CN"/>
              <a:t>TR，</a:t>
            </a:r>
            <a:r>
              <a:rPr lang="zh-CN" altLang="en-US"/>
              <a:t>当且仅当对于 </a:t>
            </a:r>
            <a:r>
              <a:rPr lang="en-US" altLang="zh-CN"/>
              <a:t>TR </a:t>
            </a:r>
            <a:r>
              <a:rPr lang="zh-CN" altLang="en-US"/>
              <a:t>中的每个测试需求 </a:t>
            </a:r>
            <a:r>
              <a:rPr lang="en-US" altLang="zh-CN"/>
              <a:t>tr，</a:t>
            </a:r>
            <a:r>
              <a:rPr lang="zh-CN" altLang="en-US"/>
              <a:t>测试路径集 </a:t>
            </a:r>
            <a:r>
              <a:rPr lang="en-US" altLang="zh-CN"/>
              <a:t>path(T) </a:t>
            </a:r>
            <a:r>
              <a:rPr lang="zh-CN" altLang="en-US"/>
              <a:t>中都至少存在一个测试路径 </a:t>
            </a:r>
            <a:r>
              <a:rPr lang="en-US" altLang="zh-CN"/>
              <a:t>p </a:t>
            </a:r>
            <a:r>
              <a:rPr lang="zh-CN" altLang="en-US"/>
              <a:t>满足 </a:t>
            </a:r>
            <a:r>
              <a:rPr lang="en-US" altLang="zh-CN"/>
              <a:t>tr </a:t>
            </a:r>
            <a:r>
              <a:rPr lang="zh-CN" altLang="en-US"/>
              <a:t>的时候，测试用例集 </a:t>
            </a:r>
            <a:r>
              <a:rPr lang="en-US" altLang="zh-CN"/>
              <a:t>T </a:t>
            </a:r>
            <a:r>
              <a:rPr lang="zh-CN" altLang="en-US"/>
              <a:t>满足图 </a:t>
            </a:r>
            <a:r>
              <a:rPr lang="en-US" altLang="zh-CN"/>
              <a:t>G </a:t>
            </a:r>
            <a:r>
              <a:rPr lang="zh-CN" altLang="en-US"/>
              <a:t>的覆盖准则 </a:t>
            </a:r>
            <a:r>
              <a:rPr lang="en-US" altLang="zh-CN"/>
              <a:t>C。</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7.32 节点覆盖（</a:t>
            </a:r>
            <a:r>
              <a:rPr lang="en-US" altLang="zh-CN"/>
              <a:t>Node Coverage，</a:t>
            </a:r>
            <a:r>
              <a:rPr lang="zh-CN" altLang="en-US"/>
              <a:t>形式化定义）</a:t>
            </a:r>
            <a:endParaRPr lang="zh-CN" altLang="en-US"/>
          </a:p>
          <a:p>
            <a:r>
              <a:rPr lang="zh-CN" altLang="en-US"/>
              <a:t>对于图 </a:t>
            </a:r>
            <a:r>
              <a:rPr lang="en-US" altLang="zh-CN"/>
              <a:t>G </a:t>
            </a:r>
            <a:r>
              <a:rPr lang="zh-CN" altLang="en-US"/>
              <a:t>中的每个可达的节点 </a:t>
            </a:r>
            <a:r>
              <a:rPr lang="en-US" altLang="zh-CN"/>
              <a:t>n，</a:t>
            </a:r>
            <a:r>
              <a:rPr lang="zh-CN" altLang="en-US"/>
              <a:t>测试需求集 </a:t>
            </a:r>
            <a:r>
              <a:rPr lang="en-US" altLang="zh-CN"/>
              <a:t>TR</a:t>
            </a:r>
            <a:r>
              <a:rPr lang="zh-CN" altLang="en-US"/>
              <a:t>包含谓词“访问 </a:t>
            </a:r>
            <a:r>
              <a:rPr lang="en-US" altLang="zh-CN"/>
              <a:t>n”。</a:t>
            </a:r>
            <a:endParaRPr lang="en-US" altLang="zh-CN"/>
          </a:p>
          <a:p>
            <a:r>
              <a:rPr lang="zh-CN" altLang="en-US"/>
              <a:t>准则 7.7 节点覆盖（</a:t>
            </a:r>
            <a:r>
              <a:rPr lang="en-US" altLang="zh-CN"/>
              <a:t>Node Coverage，NC）</a:t>
            </a:r>
            <a:endParaRPr lang="en-US" altLang="zh-CN"/>
          </a:p>
          <a:p>
            <a:r>
              <a:rPr lang="en-US" altLang="zh-CN"/>
              <a:t>TR</a:t>
            </a:r>
            <a:r>
              <a:rPr lang="zh-CN" altLang="en-US"/>
              <a:t>包含 </a:t>
            </a:r>
            <a:r>
              <a:rPr lang="en-US" altLang="zh-CN"/>
              <a:t>G </a:t>
            </a:r>
            <a:r>
              <a:rPr lang="zh-CN" altLang="en-US"/>
              <a:t>中每个可达的节点。</a:t>
            </a:r>
            <a:endParaRPr lang="zh-CN" altLang="en-US"/>
          </a:p>
          <a:p>
            <a:r>
              <a:rPr lang="zh-CN" altLang="en-US"/>
              <a:t>（补充说明：在准则 7.7 的定义中，“包含”的实际意思是“包含谓词访问 </a:t>
            </a:r>
            <a:r>
              <a:rPr lang="en-US" altLang="zh-CN"/>
              <a:t>n”，</a:t>
            </a:r>
            <a:r>
              <a:rPr lang="zh-CN" altLang="en-US"/>
              <a:t>即对图 </a:t>
            </a:r>
            <a:r>
              <a:rPr lang="en-US" altLang="zh-CN"/>
              <a:t>G </a:t>
            </a:r>
            <a:r>
              <a:rPr lang="zh-CN" altLang="en-US"/>
              <a:t>中每个可达节点 </a:t>
            </a:r>
            <a:r>
              <a:rPr lang="en-US" altLang="zh-CN"/>
              <a:t>n，</a:t>
            </a:r>
            <a:r>
              <a:rPr lang="zh-CN" altLang="en-US"/>
              <a:t>测试需求集 </a:t>
            </a:r>
            <a:r>
              <a:rPr lang="en-US" altLang="zh-CN"/>
              <a:t>TR</a:t>
            </a:r>
            <a:r>
              <a:rPr lang="zh-CN" altLang="en-US"/>
              <a:t>需包含“访问 </a:t>
            </a:r>
            <a:r>
              <a:rPr lang="en-US" altLang="zh-CN"/>
              <a:t>n”</a:t>
            </a:r>
            <a:r>
              <a:rPr lang="zh-CN" altLang="en-US"/>
              <a:t>这一谓词需求。）</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7.33 节点覆盖（</a:t>
            </a:r>
            <a:r>
              <a:rPr lang="en-US" altLang="zh-CN"/>
              <a:t>Node Coverage，</a:t>
            </a:r>
            <a:r>
              <a:rPr lang="zh-CN" altLang="en-US"/>
              <a:t>标准定义）当且仅当对于 </a:t>
            </a:r>
            <a:r>
              <a:rPr lang="en-US" altLang="zh-CN"/>
              <a:t>N</a:t>
            </a:r>
            <a:r>
              <a:rPr lang="zh-CN" altLang="en-US"/>
              <a:t>中每个语法上可达的节点 </a:t>
            </a:r>
            <a:r>
              <a:rPr lang="en-US" altLang="zh-CN"/>
              <a:t>n，path(T)</a:t>
            </a:r>
            <a:r>
              <a:rPr lang="zh-CN" altLang="en-US"/>
              <a:t>中都有一条路径 </a:t>
            </a:r>
            <a:r>
              <a:rPr lang="en-US" altLang="zh-CN"/>
              <a:t>p</a:t>
            </a:r>
            <a:r>
              <a:rPr lang="zh-CN" altLang="en-US"/>
              <a:t>访问 </a:t>
            </a:r>
            <a:r>
              <a:rPr lang="en-US" altLang="zh-CN"/>
              <a:t>n，</a:t>
            </a:r>
            <a:r>
              <a:rPr lang="zh-CN" altLang="en-US"/>
              <a:t>那么测试用例集 </a:t>
            </a:r>
            <a:r>
              <a:rPr lang="en-US" altLang="zh-CN"/>
              <a:t>T</a:t>
            </a:r>
            <a:r>
              <a:rPr lang="zh-CN" altLang="en-US"/>
              <a:t>在图 </a:t>
            </a:r>
            <a:r>
              <a:rPr lang="en-US" altLang="zh-CN"/>
              <a:t>G</a:t>
            </a:r>
            <a:r>
              <a:rPr lang="zh-CN" altLang="en-US"/>
              <a:t>上满足节点覆盖。</a:t>
            </a:r>
            <a:endParaRPr lang="zh-CN" altLang="en-US"/>
          </a:p>
          <a:p>
            <a:r>
              <a:rPr lang="zh-CN" altLang="en-US"/>
              <a:t>学数学的读者可能会注意到这个定义是具有建设性的，因为它只定义了集合 </a:t>
            </a:r>
            <a:r>
              <a:rPr lang="en-US" altLang="zh-CN"/>
              <a:t>TR</a:t>
            </a:r>
            <a:r>
              <a:rPr lang="zh-CN" altLang="en-US"/>
              <a:t>中包含什么，而没有定义集合的边界。这正是我们的意图，</a:t>
            </a:r>
            <a:r>
              <a:rPr lang="en-US" altLang="zh-CN"/>
              <a:t>TR</a:t>
            </a:r>
            <a:r>
              <a:rPr lang="zh-CN" altLang="en-US"/>
              <a:t>中只含有所列出的内容，而不含有其他的元素。</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7.8 边覆盖（</a:t>
            </a:r>
            <a:r>
              <a:rPr lang="en-US" altLang="zh-CN"/>
              <a:t>Edge Coverage，EC） TR </a:t>
            </a:r>
            <a:r>
              <a:rPr lang="zh-CN" altLang="en-US"/>
              <a:t>包含 </a:t>
            </a:r>
            <a:r>
              <a:rPr lang="en-US" altLang="zh-CN"/>
              <a:t>G </a:t>
            </a:r>
            <a:r>
              <a:rPr lang="zh-CN" altLang="en-US"/>
              <a:t>中每个可达的长度小于等于 1 的路径。</a:t>
            </a:r>
            <a:endParaRPr lang="zh-CN" altLang="en-US"/>
          </a:p>
          <a:p>
            <a:r>
              <a:rPr lang="zh-CN" altLang="en-US"/>
              <a:t>准则 7.9​</a:t>
            </a:r>
            <a:r>
              <a:rPr lang="en-US" altLang="zh-CN"/>
              <a:t> </a:t>
            </a:r>
            <a:r>
              <a:rPr lang="zh-CN" altLang="en-US"/>
              <a:t>对边覆盖（</a:t>
            </a:r>
            <a:r>
              <a:rPr lang="en-US" altLang="zh-CN"/>
              <a:t>Edge-Pair Coverage, EPC）TR </a:t>
            </a:r>
            <a:r>
              <a:rPr lang="zh-CN" altLang="en-US"/>
              <a:t>包含 </a:t>
            </a:r>
            <a:r>
              <a:rPr lang="en-US" altLang="zh-CN"/>
              <a:t>G </a:t>
            </a:r>
            <a:r>
              <a:rPr lang="zh-CN" altLang="en-US"/>
              <a:t>中每个可达的长度小于等于 2 的路径。</a:t>
            </a:r>
            <a:endParaRPr lang="zh-CN" altLang="en-US"/>
          </a:p>
          <a:p>
            <a:r>
              <a:rPr lang="zh-CN" altLang="en-US"/>
              <a:t>定义 7.34 主路径（</a:t>
            </a:r>
            <a:r>
              <a:rPr lang="en-US" altLang="zh-CN"/>
              <a:t>Prime Path） </a:t>
            </a:r>
            <a:endParaRPr lang="en-US" altLang="zh-CN"/>
          </a:p>
          <a:p>
            <a:r>
              <a:rPr lang="zh-CN" altLang="en-US"/>
              <a:t>有一条从 </a:t>
            </a:r>
            <a:r>
              <a:rPr lang="en-US" altLang="zh-CN"/>
              <a:t>ni​</a:t>
            </a:r>
            <a:r>
              <a:rPr lang="zh-CN" altLang="en-US"/>
              <a:t>到 </a:t>
            </a:r>
            <a:r>
              <a:rPr lang="en-US" altLang="zh-CN"/>
              <a:t>nj​</a:t>
            </a:r>
            <a:r>
              <a:rPr lang="zh-CN" altLang="en-US"/>
              <a:t>的路径，当且仅当这条路径是一条简单路径，而且它不是其他任何简单路径的子路径时，这条路径为主路径。</a:t>
            </a:r>
            <a:endParaRPr lang="zh-CN" altLang="en-US"/>
          </a:p>
          <a:p>
            <a:r>
              <a:rPr lang="zh-CN" altLang="en-US"/>
              <a:t>准则 7.10 主路径覆盖（</a:t>
            </a:r>
            <a:r>
              <a:rPr lang="en-US" altLang="zh-CN"/>
              <a:t>Prime Path Coverage, PPC） </a:t>
            </a:r>
            <a:endParaRPr lang="en-US" altLang="zh-CN"/>
          </a:p>
          <a:p>
            <a:r>
              <a:rPr lang="en-US" altLang="zh-CN"/>
              <a:t>TR</a:t>
            </a:r>
            <a:r>
              <a:rPr lang="zh-CN" altLang="en-US"/>
              <a:t>包含 </a:t>
            </a:r>
            <a:r>
              <a:rPr lang="en-US" altLang="zh-CN"/>
              <a:t>G</a:t>
            </a:r>
            <a:r>
              <a:rPr lang="zh-CN" altLang="en-US"/>
              <a:t>中每条主路径。</a:t>
            </a:r>
            <a:endParaRPr lang="zh-CN" altLang="en-US"/>
          </a:p>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准则 7.11​ 简单往返覆盖（</a:t>
            </a:r>
            <a:r>
              <a:rPr lang="en-US" altLang="zh-CN"/>
              <a:t>Simple Round Trip Coverage, SRTC）</a:t>
            </a:r>
            <a:endParaRPr lang="en-US" altLang="zh-CN"/>
          </a:p>
          <a:p>
            <a:r>
              <a:rPr lang="zh-CN" altLang="en-US"/>
              <a:t>对于 </a:t>
            </a:r>
            <a:r>
              <a:rPr lang="en-US" altLang="zh-CN"/>
              <a:t>G</a:t>
            </a:r>
            <a:r>
              <a:rPr lang="zh-CN" altLang="en-US"/>
              <a:t>中所有可达的，且可以作为往返路径起点和终点的节点，</a:t>
            </a:r>
            <a:r>
              <a:rPr lang="en-US" altLang="zh-CN"/>
              <a:t>TR</a:t>
            </a:r>
            <a:r>
              <a:rPr lang="zh-CN" altLang="en-US"/>
              <a:t>包含至少一条往返路径。</a:t>
            </a:r>
            <a:endParaRPr lang="zh-CN" altLang="en-US"/>
          </a:p>
          <a:p>
            <a:r>
              <a:rPr lang="zh-CN" altLang="en-US"/>
              <a:t>准则 7.12​ 完全往返覆盖（</a:t>
            </a:r>
            <a:r>
              <a:rPr lang="en-US" altLang="zh-CN"/>
              <a:t>Complete Round Trip Coverage, CRTC）</a:t>
            </a:r>
            <a:endParaRPr lang="en-US" altLang="zh-CN"/>
          </a:p>
          <a:p>
            <a:r>
              <a:rPr lang="zh-CN" altLang="en-US"/>
              <a:t>对于 </a:t>
            </a:r>
            <a:r>
              <a:rPr lang="en-US" altLang="zh-CN"/>
              <a:t>G</a:t>
            </a:r>
            <a:r>
              <a:rPr lang="zh-CN" altLang="en-US"/>
              <a:t>中所有可达的节点，</a:t>
            </a:r>
            <a:r>
              <a:rPr lang="en-US" altLang="zh-CN"/>
              <a:t>TR</a:t>
            </a:r>
            <a:r>
              <a:rPr lang="zh-CN" altLang="en-US"/>
              <a:t>包含所有的往返路径。</a:t>
            </a:r>
            <a:endParaRPr lang="zh-CN" altLang="en-US"/>
          </a:p>
          <a:p>
            <a:r>
              <a:rPr lang="zh-CN" altLang="en-US"/>
              <a:t>准则 7.13​ 完全路径覆盖（</a:t>
            </a:r>
            <a:r>
              <a:rPr lang="en-US" altLang="zh-CN"/>
              <a:t>Complete Path Coverage, CPC）</a:t>
            </a:r>
            <a:endParaRPr lang="en-US" altLang="zh-CN"/>
          </a:p>
          <a:p>
            <a:r>
              <a:rPr lang="en-US" altLang="zh-CN"/>
              <a:t>TR</a:t>
            </a:r>
            <a:r>
              <a:rPr lang="zh-CN" altLang="en-US"/>
              <a:t>包含 </a:t>
            </a:r>
            <a:r>
              <a:rPr lang="en-US" altLang="zh-CN"/>
              <a:t>G</a:t>
            </a:r>
            <a:r>
              <a:rPr lang="zh-CN" altLang="en-US"/>
              <a:t>中所有的路径。</a:t>
            </a:r>
            <a:endParaRPr lang="zh-CN" altLang="en-US"/>
          </a:p>
          <a:p>
            <a:r>
              <a:rPr lang="zh-CN" altLang="en-US"/>
              <a:t>准则 7.14​ 指定路径覆盖（</a:t>
            </a:r>
            <a:r>
              <a:rPr lang="en-US" altLang="zh-CN"/>
              <a:t>Specified Path Coverage, SPC）</a:t>
            </a:r>
            <a:endParaRPr lang="en-US" altLang="zh-CN"/>
          </a:p>
          <a:p>
            <a:r>
              <a:rPr lang="en-US" altLang="zh-CN"/>
              <a:t>TR</a:t>
            </a:r>
            <a:r>
              <a:rPr lang="zh-CN" altLang="en-US"/>
              <a:t>包含一个测试路径集合 </a:t>
            </a:r>
            <a:r>
              <a:rPr lang="en-US" altLang="zh-CN"/>
              <a:t>S，</a:t>
            </a:r>
            <a:r>
              <a:rPr lang="zh-CN" altLang="en-US"/>
              <a:t>其中 </a:t>
            </a:r>
            <a:r>
              <a:rPr lang="en-US" altLang="zh-CN"/>
              <a:t>S</a:t>
            </a:r>
            <a:r>
              <a:rPr lang="zh-CN" altLang="en-US"/>
              <a:t>是一个参数。</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7.35​ 游历（</a:t>
            </a:r>
            <a:r>
              <a:rPr lang="en-US" altLang="zh-CN"/>
              <a:t>Tour）</a:t>
            </a:r>
            <a:endParaRPr lang="en-US" altLang="zh-CN"/>
          </a:p>
          <a:p>
            <a:r>
              <a:rPr lang="zh-CN" altLang="en-US"/>
              <a:t>当且仅当子路径 </a:t>
            </a:r>
            <a:r>
              <a:rPr lang="en-US" altLang="zh-CN"/>
              <a:t>q</a:t>
            </a:r>
            <a:r>
              <a:rPr lang="zh-CN" altLang="en-US"/>
              <a:t>是测试路径 </a:t>
            </a:r>
            <a:r>
              <a:rPr lang="en-US" altLang="zh-CN"/>
              <a:t>p</a:t>
            </a:r>
            <a:r>
              <a:rPr lang="zh-CN" altLang="en-US"/>
              <a:t>的一条子路径时，那么 </a:t>
            </a:r>
            <a:r>
              <a:rPr lang="en-US" altLang="zh-CN"/>
              <a:t>p</a:t>
            </a:r>
            <a:r>
              <a:rPr lang="zh-CN" altLang="en-US"/>
              <a:t>游历 </a:t>
            </a:r>
            <a:r>
              <a:rPr lang="en-US" altLang="zh-CN"/>
              <a:t>q。</a:t>
            </a:r>
            <a:endParaRPr lang="en-US" altLang="zh-CN"/>
          </a:p>
          <a:p>
            <a:r>
              <a:rPr lang="zh-CN" altLang="en-US"/>
              <a:t>定义 7.36​ 顺路游历（</a:t>
            </a:r>
            <a:r>
              <a:rPr lang="en-US" altLang="zh-CN"/>
              <a:t>Tour With Sidetrip）</a:t>
            </a:r>
            <a:endParaRPr lang="en-US" altLang="zh-CN"/>
          </a:p>
          <a:p>
            <a:r>
              <a:rPr lang="zh-CN" altLang="en-US"/>
              <a:t>当且仅当子路径 </a:t>
            </a:r>
            <a:r>
              <a:rPr lang="en-US" altLang="zh-CN"/>
              <a:t>q</a:t>
            </a:r>
            <a:r>
              <a:rPr lang="zh-CN" altLang="en-US"/>
              <a:t>中的每条边出现的顺序和在测试路径 </a:t>
            </a:r>
            <a:r>
              <a:rPr lang="en-US" altLang="zh-CN"/>
              <a:t>p</a:t>
            </a:r>
            <a:r>
              <a:rPr lang="zh-CN" altLang="en-US"/>
              <a:t>中出现的顺序相同，那么 </a:t>
            </a:r>
            <a:r>
              <a:rPr lang="en-US" altLang="zh-CN"/>
              <a:t>p</a:t>
            </a:r>
            <a:r>
              <a:rPr lang="zh-CN" altLang="en-US"/>
              <a:t>顺路游历 </a:t>
            </a:r>
            <a:r>
              <a:rPr lang="en-US" altLang="zh-CN"/>
              <a:t>q。</a:t>
            </a:r>
            <a:endParaRPr lang="en-US" altLang="zh-CN"/>
          </a:p>
          <a:p>
            <a:r>
              <a:rPr lang="zh-CN" altLang="en-US"/>
              <a:t>定义 7.37​ 绕路游历（</a:t>
            </a:r>
            <a:r>
              <a:rPr lang="en-US" altLang="zh-CN"/>
              <a:t>Tour With Detour）</a:t>
            </a:r>
            <a:endParaRPr lang="en-US" altLang="zh-CN"/>
          </a:p>
          <a:p>
            <a:r>
              <a:rPr lang="zh-CN" altLang="en-US"/>
              <a:t>当且仅当子路径 </a:t>
            </a:r>
            <a:r>
              <a:rPr lang="en-US" altLang="zh-CN"/>
              <a:t>q</a:t>
            </a:r>
            <a:r>
              <a:rPr lang="zh-CN" altLang="en-US"/>
              <a:t>中的每个节点出现的顺序和在测试路径 </a:t>
            </a:r>
            <a:r>
              <a:rPr lang="en-US" altLang="zh-CN"/>
              <a:t>p</a:t>
            </a:r>
            <a:r>
              <a:rPr lang="zh-CN" altLang="en-US"/>
              <a:t>中出现的顺序相同，那么 </a:t>
            </a:r>
            <a:r>
              <a:rPr lang="en-US" altLang="zh-CN"/>
              <a:t>p</a:t>
            </a:r>
            <a:r>
              <a:rPr lang="zh-CN" altLang="en-US"/>
              <a:t>绕路游历 </a:t>
            </a:r>
            <a:r>
              <a:rPr lang="en-US" altLang="zh-CN"/>
              <a:t>q。</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7.38​ 最大限度游历（</a:t>
            </a:r>
            <a:r>
              <a:rPr lang="en-US" altLang="zh-CN"/>
              <a:t>Best Effort Touring）</a:t>
            </a:r>
            <a:endParaRPr lang="en-US" altLang="zh-CN"/>
          </a:p>
          <a:p>
            <a:r>
              <a:rPr lang="en-US" altLang="zh-CN"/>
              <a:t>TRtour​</a:t>
            </a:r>
            <a:r>
              <a:rPr lang="zh-CN" altLang="en-US"/>
              <a:t>是测试需求中可以被游历的子集，</a:t>
            </a:r>
            <a:r>
              <a:rPr lang="en-US" altLang="zh-CN"/>
              <a:t>TRsidetrip​</a:t>
            </a:r>
            <a:r>
              <a:rPr lang="zh-CN" altLang="en-US"/>
              <a:t>是测试需求中可以被顺路游历的子集，</a:t>
            </a:r>
            <a:r>
              <a:rPr lang="en-US" altLang="zh-CN"/>
              <a:t>TRtour​⊆TRsidetrip​。</a:t>
            </a:r>
            <a:r>
              <a:rPr lang="zh-CN" altLang="en-US"/>
              <a:t>当且仅当对于 </a:t>
            </a:r>
            <a:r>
              <a:rPr lang="en-US" altLang="zh-CN"/>
              <a:t>TRtour​</a:t>
            </a:r>
            <a:r>
              <a:rPr lang="zh-CN" altLang="en-US"/>
              <a:t>中的每条路径 </a:t>
            </a:r>
            <a:r>
              <a:rPr lang="en-US" altLang="zh-CN"/>
              <a:t>p，</a:t>
            </a:r>
            <a:r>
              <a:rPr lang="zh-CN" altLang="en-US"/>
              <a:t>测试用例集 </a:t>
            </a:r>
            <a:r>
              <a:rPr lang="en-US" altLang="zh-CN"/>
              <a:t>T</a:t>
            </a:r>
            <a:r>
              <a:rPr lang="zh-CN" altLang="en-US"/>
              <a:t>中存在一条路径可以直接游历 </a:t>
            </a:r>
            <a:r>
              <a:rPr lang="en-US" altLang="zh-CN"/>
              <a:t>p，</a:t>
            </a:r>
            <a:r>
              <a:rPr lang="zh-CN" altLang="en-US"/>
              <a:t>对于 </a:t>
            </a:r>
            <a:r>
              <a:rPr lang="en-US" altLang="zh-CN"/>
              <a:t>TRsidetrip​</a:t>
            </a:r>
            <a:r>
              <a:rPr lang="zh-CN" altLang="en-US"/>
              <a:t>中的每个路径 </a:t>
            </a:r>
            <a:r>
              <a:rPr lang="en-US" altLang="zh-CN"/>
              <a:t>p，T</a:t>
            </a:r>
            <a:r>
              <a:rPr lang="zh-CN" altLang="en-US"/>
              <a:t>中也存在一条路径可以直接游历或是顺路游历 </a:t>
            </a:r>
            <a:r>
              <a:rPr lang="en-US" altLang="zh-CN"/>
              <a:t>p，</a:t>
            </a:r>
            <a:r>
              <a:rPr lang="zh-CN" altLang="en-US"/>
              <a:t>这时我们说测试路径集 </a:t>
            </a:r>
            <a:r>
              <a:rPr lang="en-US" altLang="zh-CN"/>
              <a:t>T</a:t>
            </a:r>
            <a:r>
              <a:rPr lang="zh-CN" altLang="en-US"/>
              <a:t>达到最大限度游历。</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路径 [7] 中的惊叹号告诉我们这个路径不能被扩展。具体来说，终止节点 7 没有外向的边，所以终止于节点 7 的路径不能继续延伸。</a:t>
            </a:r>
            <a:endParaRPr lang="zh-CN" altLang="en-US"/>
          </a:p>
          <a:p>
            <a:r>
              <a:rPr lang="zh-CN" altLang="en-US"/>
              <a:t>路径 [5, 5] 的星号告诉我们这条路径也不能再继续扩展，因为它的第一个节点和最后一个节点是一样的（这是一个自环）。</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r>
              <a:rPr lang="zh-CN" altLang="en-US"/>
              <a:t>下面的测试准则基于这样一个假设：为了能充分地测试一个程序，我们需要聚焦数据值的流向。具体来说，我们应该努力保证在程序中某处创建的数值在其他地方可以正确地重新创建或使用。要完成这一点，我们必须关注数值的定义和使用。定义（</a:t>
            </a:r>
            <a:r>
              <a:rPr lang="en-US" altLang="zh-CN"/>
              <a:t>definition / def）</a:t>
            </a:r>
            <a:r>
              <a:rPr lang="zh-CN" altLang="en-US"/>
              <a:t>是当一个变量的值被存于内存时这个变量所处的位置（变量赋值，输入变量值时等）。使用（</a:t>
            </a:r>
            <a:r>
              <a:rPr lang="en-US" altLang="zh-CN"/>
              <a:t>use）</a:t>
            </a:r>
            <a:r>
              <a:rPr lang="zh-CN" altLang="en-US"/>
              <a:t>是当获取一个变量的值时变量所处的位置。数据流测试准则所依据的一条事实是：数据值由定义转移到使用。我们将这种转移称为定义使用对（</a:t>
            </a:r>
            <a:r>
              <a:rPr lang="en-US" altLang="zh-CN"/>
              <a:t>du-pair），</a:t>
            </a:r>
            <a:r>
              <a:rPr lang="zh-CN" altLang="en-US"/>
              <a:t>在测试文献中它们也被称为定义-使用（</a:t>
            </a:r>
            <a:r>
              <a:rPr lang="en-US" altLang="zh-CN"/>
              <a:t>definition-use / def-use）</a:t>
            </a:r>
            <a:r>
              <a:rPr lang="zh-CN" altLang="en-US"/>
              <a:t>或定义使用关联（</a:t>
            </a:r>
            <a:r>
              <a:rPr lang="en-US" altLang="zh-CN"/>
              <a:t>du association）。</a:t>
            </a:r>
            <a:r>
              <a:rPr lang="zh-CN" altLang="en-US"/>
              <a:t>数据流准则的思想就是使用不同的方法来执行定义使用对。</a:t>
            </a:r>
            <a:endParaRPr lang="zh-CN" altLang="en-US"/>
          </a:p>
          <a:p>
            <a:r>
              <a:rPr lang="zh-CN" altLang="en-US"/>
              <a:t>首先我们必须将数据流整合到现有的图模型中来。对于一个基于图来建模的程序，我们用 </a:t>
            </a:r>
            <a:r>
              <a:rPr lang="en-US" altLang="zh-CN"/>
              <a:t>V</a:t>
            </a:r>
            <a:r>
              <a:rPr lang="zh-CN" altLang="en-US"/>
              <a:t>代表程序中相关联的变量的集合。每个节点 </a:t>
            </a:r>
            <a:r>
              <a:rPr lang="en-US" altLang="zh-CN"/>
              <a:t>n</a:t>
            </a:r>
            <a:r>
              <a:rPr lang="zh-CN" altLang="en-US"/>
              <a:t>和每条边 </a:t>
            </a:r>
            <a:r>
              <a:rPr lang="en-US" altLang="zh-CN"/>
              <a:t>e</a:t>
            </a:r>
            <a:r>
              <a:rPr lang="zh-CN" altLang="en-US"/>
              <a:t>定义了 </a:t>
            </a:r>
            <a:r>
              <a:rPr lang="en-US" altLang="zh-CN"/>
              <a:t>V</a:t>
            </a:r>
            <a:r>
              <a:rPr lang="zh-CN" altLang="en-US"/>
              <a:t>的一个子集，这样的集合表示为 </a:t>
            </a:r>
            <a:r>
              <a:rPr lang="en-US" altLang="zh-CN"/>
              <a:t>def(n)</a:t>
            </a:r>
            <a:r>
              <a:rPr lang="zh-CN" altLang="en-US"/>
              <a:t>或 </a:t>
            </a:r>
            <a:r>
              <a:rPr lang="en-US" altLang="zh-CN"/>
              <a:t>def(e)（</a:t>
            </a:r>
            <a:r>
              <a:rPr lang="zh-CN" altLang="en-US"/>
              <a:t>虽然从程序中导出的图不可能在边上有定义，但是从其他的软件工件比如有限状态机中导出的图允许在边上有定义）。每个节点 </a:t>
            </a:r>
            <a:r>
              <a:rPr lang="en-US" altLang="zh-CN"/>
              <a:t>n</a:t>
            </a:r>
            <a:r>
              <a:rPr lang="zh-CN" altLang="en-US"/>
              <a:t>和每条边 </a:t>
            </a:r>
            <a:r>
              <a:rPr lang="en-US" altLang="zh-CN"/>
              <a:t>e</a:t>
            </a:r>
            <a:r>
              <a:rPr lang="zh-CN" altLang="en-US"/>
              <a:t>同时也使用了 </a:t>
            </a:r>
            <a:r>
              <a:rPr lang="en-US" altLang="zh-CN"/>
              <a:t>V</a:t>
            </a:r>
            <a:r>
              <a:rPr lang="zh-CN" altLang="en-US"/>
              <a:t>的一个子集，这样的集合表示为 </a:t>
            </a:r>
            <a:r>
              <a:rPr lang="en-US" altLang="zh-CN"/>
              <a:t>use(n)</a:t>
            </a:r>
            <a:r>
              <a:rPr lang="zh-CN" altLang="en-US"/>
              <a:t>或 </a:t>
            </a:r>
            <a:r>
              <a:rPr lang="en-US" altLang="zh-CN"/>
              <a:t>use(e)。</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7.15​ 全定义覆盖（</a:t>
            </a:r>
            <a:r>
              <a:rPr lang="en-US" altLang="zh-CN"/>
              <a:t>All-Defs Coverage, ADC）</a:t>
            </a:r>
            <a:endParaRPr lang="en-US" altLang="zh-CN"/>
          </a:p>
          <a:p>
            <a:r>
              <a:rPr lang="zh-CN" altLang="en-US"/>
              <a:t>对于每个定义路径集合 </a:t>
            </a:r>
            <a:r>
              <a:rPr lang="en-US" altLang="zh-CN"/>
              <a:t>S=du(n,v)，TR</a:t>
            </a:r>
            <a:r>
              <a:rPr lang="zh-CN" altLang="en-US"/>
              <a:t>包含 </a:t>
            </a:r>
            <a:r>
              <a:rPr lang="en-US" altLang="zh-CN"/>
              <a:t>S</a:t>
            </a:r>
            <a:r>
              <a:rPr lang="zh-CN" altLang="en-US"/>
              <a:t>中至少一条路径 </a:t>
            </a:r>
            <a:r>
              <a:rPr lang="en-US" altLang="zh-CN"/>
              <a:t>d。</a:t>
            </a:r>
            <a:endParaRPr lang="en-US" altLang="zh-CN"/>
          </a:p>
          <a:p>
            <a:r>
              <a:rPr lang="zh-CN" altLang="en-US"/>
              <a:t>准则 7.16​ 全使用覆盖（</a:t>
            </a:r>
            <a:r>
              <a:rPr lang="en-US" altLang="zh-CN"/>
              <a:t>All-Uses Coverage, AUC）</a:t>
            </a:r>
            <a:endParaRPr lang="en-US" altLang="zh-CN"/>
          </a:p>
          <a:p>
            <a:r>
              <a:rPr lang="zh-CN" altLang="en-US"/>
              <a:t>对于每个定义对集合 </a:t>
            </a:r>
            <a:r>
              <a:rPr lang="en-US" altLang="zh-CN"/>
              <a:t>S=du(ni​,nj​,v)，TR</a:t>
            </a:r>
            <a:r>
              <a:rPr lang="zh-CN" altLang="en-US"/>
              <a:t>包含 </a:t>
            </a:r>
            <a:r>
              <a:rPr lang="en-US" altLang="zh-CN"/>
              <a:t>S</a:t>
            </a:r>
            <a:r>
              <a:rPr lang="zh-CN" altLang="en-US"/>
              <a:t>中至少一条路径 </a:t>
            </a:r>
            <a:r>
              <a:rPr lang="en-US" altLang="zh-CN"/>
              <a:t>d。</a:t>
            </a:r>
            <a:endParaRPr lang="en-US" altLang="zh-CN"/>
          </a:p>
          <a:p>
            <a:r>
              <a:rPr lang="zh-CN" altLang="en-US"/>
              <a:t>准则 7.17​ 全定义使用路径覆盖（</a:t>
            </a:r>
            <a:r>
              <a:rPr lang="en-US" altLang="zh-CN"/>
              <a:t>All-du-Paths Coverage, ADUPC）</a:t>
            </a:r>
            <a:endParaRPr lang="en-US" altLang="zh-CN"/>
          </a:p>
          <a:p>
            <a:r>
              <a:rPr lang="zh-CN" altLang="en-US"/>
              <a:t>对于每个定义对集合 </a:t>
            </a:r>
            <a:r>
              <a:rPr lang="en-US" altLang="zh-CN"/>
              <a:t>S=du(ni​,nj​,v)，TR</a:t>
            </a:r>
            <a:r>
              <a:rPr lang="zh-CN" altLang="en-US"/>
              <a:t>包含 </a:t>
            </a:r>
            <a:r>
              <a:rPr lang="en-US" altLang="zh-CN"/>
              <a:t>S</a:t>
            </a:r>
            <a:r>
              <a:rPr lang="zh-CN" altLang="en-US"/>
              <a:t>中的每一条路径 </a:t>
            </a:r>
            <a:r>
              <a:rPr lang="en-US" altLang="zh-CN"/>
              <a:t>d。</a:t>
            </a:r>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本章将会讲述两种互补的逻辑测试方法。第一种被称为语义逻辑覆盖（</a:t>
            </a:r>
            <a:r>
              <a:rPr lang="en-US" altLang="zh-CN"/>
              <a:t>semantic logic coverage），</a:t>
            </a:r>
            <a:r>
              <a:rPr lang="zh-CN" altLang="en-US"/>
              <a:t>这种覆盖只考虑逻辑表达式的含义而不管表达式的构成。语义逻辑覆盖的优点在于即使谓词被写成一种表面不同但具有等价语义的形式，我们依然可以产生相同的测试用例。对读者来说，语义逻辑覆盖更常见也可能更为熟悉一些。第二种方法我们称作语法逻辑覆盖（</a:t>
            </a:r>
            <a:r>
              <a:rPr lang="en-US" altLang="zh-CN"/>
              <a:t>syntactic logic coverage），</a:t>
            </a:r>
            <a:r>
              <a:rPr lang="zh-CN" altLang="en-US"/>
              <a:t>这种覆盖专门根据逻辑表达式的构成来生成测试用例。语法逻辑覆盖的优势在于可以处理一些当开发者不正确地构建逻辑表达式时发生的特殊情况。</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70000"/>
          </a:bodyPr>
          <a:p>
            <a:r>
              <a:rPr lang="zh-CN" altLang="en-US"/>
              <a:t>谓词是结果为布尔值的表达式，也是我们最重要的结构。有个简单的例子写作：((</a:t>
            </a:r>
            <a:r>
              <a:rPr lang="en-US" altLang="zh-CN"/>
              <a:t>a&gt;b)∨C)∧p(x)。</a:t>
            </a:r>
            <a:r>
              <a:rPr lang="zh-CN" altLang="en-US"/>
              <a:t>谓词可能包含布尔变量、使用操作符 {&gt;,&lt;,=,≥,≤,=}做比较的非布尔变量和函数调用。谓词内部的结构用逻辑操作符创建：</a:t>
            </a:r>
            <a:endParaRPr lang="zh-CN" altLang="en-US"/>
          </a:p>
          <a:p>
            <a:r>
              <a:rPr lang="zh-CN" altLang="en-US"/>
              <a:t>¬非（</a:t>
            </a:r>
            <a:r>
              <a:rPr lang="en-US" altLang="zh-CN"/>
              <a:t>negation）</a:t>
            </a:r>
            <a:r>
              <a:rPr lang="zh-CN" altLang="en-US"/>
              <a:t>操作符</a:t>
            </a:r>
            <a:endParaRPr lang="zh-CN" altLang="en-US"/>
          </a:p>
          <a:p>
            <a:r>
              <a:rPr lang="zh-CN" altLang="en-US"/>
              <a:t>∧与（</a:t>
            </a:r>
            <a:r>
              <a:rPr lang="en-US" altLang="zh-CN"/>
              <a:t>and）</a:t>
            </a:r>
            <a:r>
              <a:rPr lang="zh-CN" altLang="en-US"/>
              <a:t>操作符</a:t>
            </a:r>
            <a:endParaRPr lang="zh-CN" altLang="en-US"/>
          </a:p>
          <a:p>
            <a:r>
              <a:rPr lang="zh-CN" altLang="en-US"/>
              <a:t>∨或（</a:t>
            </a:r>
            <a:r>
              <a:rPr lang="en-US" altLang="zh-CN"/>
              <a:t>or）</a:t>
            </a:r>
            <a:r>
              <a:rPr lang="zh-CN" altLang="en-US"/>
              <a:t>操作符</a:t>
            </a:r>
            <a:endParaRPr lang="zh-CN" altLang="en-US"/>
          </a:p>
          <a:p>
            <a:r>
              <a:rPr lang="zh-CN" altLang="en-US"/>
              <a:t>→蕴含（</a:t>
            </a:r>
            <a:r>
              <a:rPr lang="en-US" altLang="zh-CN"/>
              <a:t>implication）</a:t>
            </a:r>
            <a:r>
              <a:rPr lang="zh-CN" altLang="en-US"/>
              <a:t>操作符</a:t>
            </a:r>
            <a:endParaRPr lang="zh-CN" altLang="en-US"/>
          </a:p>
          <a:p>
            <a:r>
              <a:rPr lang="zh-CN" altLang="en-US"/>
              <a:t>⊕异或（</a:t>
            </a:r>
            <a:r>
              <a:rPr lang="en-US" altLang="zh-CN"/>
              <a:t>exclusive or）</a:t>
            </a:r>
            <a:r>
              <a:rPr lang="zh-CN" altLang="en-US"/>
              <a:t>操作符</a:t>
            </a:r>
            <a:endParaRPr lang="zh-CN" altLang="en-US"/>
          </a:p>
          <a:p>
            <a:r>
              <a:rPr lang="zh-CN" altLang="en-US"/>
              <a:t>↔等价（</a:t>
            </a:r>
            <a:r>
              <a:rPr lang="en-US" altLang="zh-CN"/>
              <a:t>equivalence）</a:t>
            </a:r>
            <a:r>
              <a:rPr lang="zh-CN" altLang="en-US"/>
              <a:t>操作符</a:t>
            </a:r>
            <a:endParaRPr lang="zh-CN" altLang="en-US"/>
          </a:p>
          <a:p>
            <a:r>
              <a:rPr lang="zh-CN" altLang="en-US"/>
              <a:t>子句是不包含任何逻辑操作符的谓词。例如，谓词 (</a:t>
            </a:r>
            <a:r>
              <a:rPr lang="en-US" altLang="zh-CN"/>
              <a:t>a=b)∨C)∧p(x)</a:t>
            </a:r>
            <a:r>
              <a:rPr lang="zh-CN" altLang="en-US"/>
              <a:t>包含三个子句即一个关系表达式 (</a:t>
            </a:r>
            <a:r>
              <a:rPr lang="en-US" altLang="zh-CN"/>
              <a:t>a=b)、</a:t>
            </a:r>
            <a:r>
              <a:rPr lang="zh-CN" altLang="en-US"/>
              <a:t>一个布尔变量 </a:t>
            </a:r>
            <a:r>
              <a:rPr lang="en-US" altLang="zh-CN"/>
              <a:t>C</a:t>
            </a:r>
            <a:r>
              <a:rPr lang="zh-CN" altLang="en-US"/>
              <a:t>和函数调用 </a:t>
            </a:r>
            <a:r>
              <a:rPr lang="en-US" altLang="zh-CN"/>
              <a:t>p(x)。</a:t>
            </a:r>
            <a:r>
              <a:rPr lang="zh-CN" altLang="en-US"/>
              <a:t>因为关系表达式可能含有它们自己的结构，所以这种结构需要特殊处理。</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8.18​ 谓词覆盖（</a:t>
            </a:r>
            <a:r>
              <a:rPr lang="en-US" altLang="zh-CN"/>
              <a:t>Predicate Coverage, PC）</a:t>
            </a:r>
            <a:endParaRPr lang="en-US" altLang="zh-CN"/>
          </a:p>
          <a:p>
            <a:r>
              <a:rPr lang="zh-CN" altLang="en-US"/>
              <a:t>对于每个 </a:t>
            </a:r>
            <a:r>
              <a:rPr lang="en-US" altLang="zh-CN"/>
              <a:t>p∈P，TR</a:t>
            </a:r>
            <a:r>
              <a:rPr lang="zh-CN" altLang="en-US"/>
              <a:t>包括两个需求：</a:t>
            </a:r>
            <a:r>
              <a:rPr lang="en-US" altLang="zh-CN"/>
              <a:t>p</a:t>
            </a:r>
            <a:r>
              <a:rPr lang="zh-CN" altLang="en-US"/>
              <a:t>的结果为真和 </a:t>
            </a:r>
            <a:r>
              <a:rPr lang="en-US" altLang="zh-CN"/>
              <a:t>p</a:t>
            </a:r>
            <a:r>
              <a:rPr lang="zh-CN" altLang="en-US"/>
              <a:t>的结果为假。</a:t>
            </a:r>
            <a:endParaRPr lang="zh-CN" altLang="en-US"/>
          </a:p>
          <a:p>
            <a:r>
              <a:rPr lang="zh-CN" altLang="en-US"/>
              <a:t>准则 8.19​ 子句覆盖（</a:t>
            </a:r>
            <a:r>
              <a:rPr lang="en-US" altLang="zh-CN"/>
              <a:t>Clause Coverage, CC）</a:t>
            </a:r>
            <a:endParaRPr lang="en-US" altLang="zh-CN"/>
          </a:p>
          <a:p>
            <a:r>
              <a:rPr lang="zh-CN" altLang="en-US"/>
              <a:t>对于每个 </a:t>
            </a:r>
            <a:r>
              <a:rPr lang="en-US" altLang="zh-CN"/>
              <a:t>c∈C，TR</a:t>
            </a:r>
            <a:r>
              <a:rPr lang="zh-CN" altLang="en-US"/>
              <a:t>包括两个需求：</a:t>
            </a:r>
            <a:r>
              <a:rPr lang="en-US" altLang="zh-CN"/>
              <a:t>c</a:t>
            </a:r>
            <a:r>
              <a:rPr lang="zh-CN" altLang="en-US"/>
              <a:t>的结果为真和 </a:t>
            </a:r>
            <a:r>
              <a:rPr lang="en-US" altLang="zh-CN"/>
              <a:t>c</a:t>
            </a:r>
            <a:r>
              <a:rPr lang="zh-CN" altLang="en-US"/>
              <a:t>的结果为假。</a:t>
            </a:r>
            <a:endParaRPr lang="zh-CN" altLang="en-US"/>
          </a:p>
          <a:p>
            <a:r>
              <a:rPr lang="zh-CN" altLang="en-US"/>
              <a:t>准则 8.20​ 组合覆盖（</a:t>
            </a:r>
            <a:r>
              <a:rPr lang="en-US" altLang="zh-CN"/>
              <a:t>Combinatorial Coverage, CoC）</a:t>
            </a:r>
            <a:endParaRPr lang="en-US" altLang="zh-CN"/>
          </a:p>
          <a:p>
            <a:r>
              <a:rPr lang="zh-CN" altLang="en-US"/>
              <a:t>对于每个 </a:t>
            </a:r>
            <a:r>
              <a:rPr lang="en-US" altLang="zh-CN"/>
              <a:t>p∈P，TR</a:t>
            </a:r>
            <a:r>
              <a:rPr lang="zh-CN" altLang="en-US"/>
              <a:t>的测试需求要求 </a:t>
            </a:r>
            <a:r>
              <a:rPr lang="en-US" altLang="zh-CN"/>
              <a:t>Cp​</a:t>
            </a:r>
            <a:r>
              <a:rPr lang="zh-CN" altLang="en-US"/>
              <a:t>中子句的结果覆盖真值取值的每种可能的组合。</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8.41​ 决定（</a:t>
            </a:r>
            <a:r>
              <a:rPr lang="en-US" altLang="zh-CN"/>
              <a:t>Determination）</a:t>
            </a:r>
            <a:endParaRPr lang="en-US" altLang="zh-CN"/>
          </a:p>
          <a:p>
            <a:r>
              <a:rPr lang="zh-CN" altLang="en-US"/>
              <a:t>给定谓词 </a:t>
            </a:r>
            <a:r>
              <a:rPr lang="en-US" altLang="zh-CN"/>
              <a:t>p</a:t>
            </a:r>
            <a:r>
              <a:rPr lang="zh-CN" altLang="en-US"/>
              <a:t>中的一条主子句 </a:t>
            </a:r>
            <a:r>
              <a:rPr lang="en-US" altLang="zh-CN"/>
              <a:t>ci​，</a:t>
            </a:r>
            <a:r>
              <a:rPr lang="zh-CN" altLang="en-US"/>
              <a:t>如果次子句 </a:t>
            </a:r>
            <a:r>
              <a:rPr lang="en-US" altLang="zh-CN"/>
              <a:t>cj​∈p，j</a:t>
            </a:r>
            <a:r>
              <a:rPr lang="zh-CN" altLang="en-US"/>
              <a:t>=</a:t>
            </a:r>
            <a:r>
              <a:rPr lang="en-US" altLang="zh-CN"/>
              <a:t>i</a:t>
            </a:r>
            <a:r>
              <a:rPr lang="zh-CN" altLang="en-US"/>
              <a:t>的某些特定取值可以使得在改变 </a:t>
            </a:r>
            <a:r>
              <a:rPr lang="en-US" altLang="zh-CN"/>
              <a:t>ci​</a:t>
            </a:r>
            <a:r>
              <a:rPr lang="zh-CN" altLang="en-US"/>
              <a:t>的真值（即布尔值）时也会改变 </a:t>
            </a:r>
            <a:r>
              <a:rPr lang="en-US" altLang="zh-CN"/>
              <a:t>p</a:t>
            </a:r>
            <a:r>
              <a:rPr lang="zh-CN" altLang="en-US"/>
              <a:t>的真值，我们说 </a:t>
            </a:r>
            <a:r>
              <a:rPr lang="en-US" altLang="zh-CN"/>
              <a:t>ci​</a:t>
            </a:r>
            <a:r>
              <a:rPr lang="zh-CN" altLang="en-US"/>
              <a:t>决定 </a:t>
            </a:r>
            <a:r>
              <a:rPr lang="en-US" altLang="zh-CN"/>
              <a:t>p。</a:t>
            </a:r>
            <a:endParaRPr lang="en-US" altLang="zh-CN"/>
          </a:p>
          <a:p>
            <a:r>
              <a:rPr lang="zh-CN" altLang="en-US"/>
              <a:t>定义 8.42​ 有效子句覆盖（</a:t>
            </a:r>
            <a:r>
              <a:rPr lang="en-US" altLang="zh-CN"/>
              <a:t>Active Clause Coverage, ACC）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决定 </a:t>
            </a:r>
            <a:r>
              <a:rPr lang="en-US" altLang="zh-CN"/>
              <a:t>p。</a:t>
            </a:r>
            <a:r>
              <a:rPr lang="zh-CN" altLang="en-US"/>
              <a:t>对于每个 </a:t>
            </a:r>
            <a:r>
              <a:rPr lang="en-US" altLang="zh-CN"/>
              <a:t>ci​，TR</a:t>
            </a:r>
            <a:r>
              <a:rPr lang="zh-CN" altLang="en-US"/>
              <a:t>包括两个测试需求：</a:t>
            </a:r>
            <a:r>
              <a:rPr lang="en-US" altLang="zh-CN"/>
              <a:t>ci​</a:t>
            </a:r>
            <a:r>
              <a:rPr lang="zh-CN" altLang="en-US"/>
              <a:t>的取值结果为真和 </a:t>
            </a:r>
            <a:r>
              <a:rPr lang="en-US" altLang="zh-CN"/>
              <a:t>ci​</a:t>
            </a:r>
            <a:r>
              <a:rPr lang="zh-CN" altLang="en-US"/>
              <a:t>的取值结果为假。</a:t>
            </a:r>
            <a:endParaRPr lang="zh-CN" altLang="en-US"/>
          </a:p>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8.21​ 广义有效子句覆盖（</a:t>
            </a:r>
            <a:r>
              <a:rPr lang="en-US" altLang="zh-CN"/>
              <a:t>General Active Clause Coverage, GACC）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决定 </a:t>
            </a:r>
            <a:r>
              <a:rPr lang="en-US" altLang="zh-CN"/>
              <a:t>p。</a:t>
            </a:r>
            <a:r>
              <a:rPr lang="zh-CN" altLang="en-US"/>
              <a:t>对于每个 </a:t>
            </a:r>
            <a:r>
              <a:rPr lang="en-US" altLang="zh-CN"/>
              <a:t>ci​，TR</a:t>
            </a:r>
            <a:r>
              <a:rPr lang="zh-CN" altLang="en-US"/>
              <a:t>包括两个测试需求：</a:t>
            </a:r>
            <a:r>
              <a:rPr lang="en-US" altLang="zh-CN"/>
              <a:t>ci​</a:t>
            </a:r>
            <a:r>
              <a:rPr lang="zh-CN" altLang="en-US"/>
              <a:t>的取值结果为真和 </a:t>
            </a:r>
            <a:r>
              <a:rPr lang="en-US" altLang="zh-CN"/>
              <a:t>cj​</a:t>
            </a:r>
            <a:r>
              <a:rPr lang="zh-CN" altLang="en-US"/>
              <a:t>的取值结果为假。当 </a:t>
            </a:r>
            <a:r>
              <a:rPr lang="en-US" altLang="zh-CN"/>
              <a:t>ci​</a:t>
            </a:r>
            <a:r>
              <a:rPr lang="zh-CN" altLang="en-US"/>
              <a:t>为真或为假的时候，次子句 </a:t>
            </a:r>
            <a:r>
              <a:rPr lang="en-US" altLang="zh-CN"/>
              <a:t>cj​</a:t>
            </a:r>
            <a:r>
              <a:rPr lang="zh-CN" altLang="en-US"/>
              <a:t>的取值不必相同。</a:t>
            </a:r>
            <a:endParaRPr lang="zh-CN" altLang="en-US"/>
          </a:p>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8.22​ 相关性有效子句覆盖（</a:t>
            </a:r>
            <a:r>
              <a:rPr lang="en-US" altLang="zh-CN"/>
              <a:t>Correlated Active Clause Coverage, CACC）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决定 </a:t>
            </a:r>
            <a:r>
              <a:rPr lang="en-US" altLang="zh-CN"/>
              <a:t>p。</a:t>
            </a:r>
            <a:r>
              <a:rPr lang="zh-CN" altLang="en-US"/>
              <a:t>对于每个 </a:t>
            </a:r>
            <a:r>
              <a:rPr lang="en-US" altLang="zh-CN"/>
              <a:t>ci​，TR</a:t>
            </a:r>
            <a:r>
              <a:rPr lang="zh-CN" altLang="en-US"/>
              <a:t>包括两个测试需求：</a:t>
            </a:r>
            <a:r>
              <a:rPr lang="en-US" altLang="zh-CN"/>
              <a:t>ci​</a:t>
            </a:r>
            <a:r>
              <a:rPr lang="zh-CN" altLang="en-US"/>
              <a:t>的取值结果为真和 </a:t>
            </a:r>
            <a:r>
              <a:rPr lang="en-US" altLang="zh-CN"/>
              <a:t>cj​</a:t>
            </a:r>
            <a:r>
              <a:rPr lang="zh-CN" altLang="en-US"/>
              <a:t>的取值结果为假。次子句 </a:t>
            </a:r>
            <a:r>
              <a:rPr lang="en-US" altLang="zh-CN"/>
              <a:t>cj​</a:t>
            </a:r>
            <a:r>
              <a:rPr lang="zh-CN" altLang="en-US"/>
              <a:t>的取值必须使得主子句 </a:t>
            </a:r>
            <a:r>
              <a:rPr lang="en-US" altLang="zh-CN"/>
              <a:t>ci​</a:t>
            </a:r>
            <a:r>
              <a:rPr lang="zh-CN" altLang="en-US"/>
              <a:t>取一种值时 </a:t>
            </a:r>
            <a:r>
              <a:rPr lang="en-US" altLang="zh-CN"/>
              <a:t>p</a:t>
            </a:r>
            <a:r>
              <a:rPr lang="zh-CN" altLang="en-US"/>
              <a:t>的结果为真，而主子句取另一种值时 </a:t>
            </a:r>
            <a:r>
              <a:rPr lang="en-US" altLang="zh-CN"/>
              <a:t>p</a:t>
            </a:r>
            <a:r>
              <a:rPr lang="zh-CN" altLang="en-US"/>
              <a:t>的结果为假。</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8.23​ 限制性有效子句覆盖（</a:t>
            </a:r>
            <a:r>
              <a:rPr lang="en-US" altLang="zh-CN"/>
              <a:t>Restricted Active Clause Coverage, RACC）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决定 </a:t>
            </a:r>
            <a:r>
              <a:rPr lang="en-US" altLang="zh-CN"/>
              <a:t>p。</a:t>
            </a:r>
            <a:r>
              <a:rPr lang="zh-CN" altLang="en-US"/>
              <a:t>对于每个 </a:t>
            </a:r>
            <a:r>
              <a:rPr lang="en-US" altLang="zh-CN"/>
              <a:t>ci​，TR</a:t>
            </a:r>
            <a:r>
              <a:rPr lang="zh-CN" altLang="en-US"/>
              <a:t>包括两个测试需求：</a:t>
            </a:r>
            <a:r>
              <a:rPr lang="en-US" altLang="zh-CN"/>
              <a:t>ci​</a:t>
            </a:r>
            <a:r>
              <a:rPr lang="zh-CN" altLang="en-US"/>
              <a:t>的取值结果为真和 </a:t>
            </a:r>
            <a:r>
              <a:rPr lang="en-US" altLang="zh-CN"/>
              <a:t>cj​</a:t>
            </a:r>
            <a:r>
              <a:rPr lang="zh-CN" altLang="en-US"/>
              <a:t>的取值结果为假。当 </a:t>
            </a:r>
            <a:r>
              <a:rPr lang="en-US" altLang="zh-CN"/>
              <a:t>ci​</a:t>
            </a:r>
            <a:r>
              <a:rPr lang="zh-CN" altLang="en-US"/>
              <a:t>为真或是假的时候，次子句 </a:t>
            </a:r>
            <a:r>
              <a:rPr lang="en-US" altLang="zh-CN"/>
              <a:t>cj​</a:t>
            </a:r>
            <a:r>
              <a:rPr lang="zh-CN" altLang="en-US"/>
              <a:t>的取值必须相同。</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定义 8.43​ 无效子句覆盖（</a:t>
            </a:r>
            <a:r>
              <a:rPr lang="en-US" altLang="zh-CN"/>
              <a:t>Inactive Clause Coverage, ICC）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不能决定​ </a:t>
            </a:r>
            <a:r>
              <a:rPr lang="en-US" altLang="zh-CN"/>
              <a:t>p。</a:t>
            </a:r>
            <a:r>
              <a:rPr lang="zh-CN" altLang="en-US"/>
              <a:t>对于每个 </a:t>
            </a:r>
            <a:r>
              <a:rPr lang="en-US" altLang="zh-CN"/>
              <a:t>ci​，TR</a:t>
            </a:r>
            <a:r>
              <a:rPr lang="zh-CN" altLang="en-US"/>
              <a:t>包括下面四个测试需求：(1) </a:t>
            </a:r>
            <a:r>
              <a:rPr lang="en-US" altLang="zh-CN"/>
              <a:t>ci​</a:t>
            </a:r>
            <a:r>
              <a:rPr lang="zh-CN" altLang="en-US"/>
              <a:t>的取值结果为真并且 </a:t>
            </a:r>
            <a:r>
              <a:rPr lang="en-US" altLang="zh-CN"/>
              <a:t>p</a:t>
            </a:r>
            <a:r>
              <a:rPr lang="zh-CN" altLang="en-US"/>
              <a:t>的结果为真；(2) </a:t>
            </a:r>
            <a:r>
              <a:rPr lang="en-US" altLang="zh-CN"/>
              <a:t>ci​</a:t>
            </a:r>
            <a:r>
              <a:rPr lang="zh-CN" altLang="en-US"/>
              <a:t>的取值结果为假并且 </a:t>
            </a:r>
            <a:r>
              <a:rPr lang="en-US" altLang="zh-CN"/>
              <a:t>p</a:t>
            </a:r>
            <a:r>
              <a:rPr lang="zh-CN" altLang="en-US"/>
              <a:t>的结果为真；(3) </a:t>
            </a:r>
            <a:r>
              <a:rPr lang="en-US" altLang="zh-CN"/>
              <a:t>cj​</a:t>
            </a:r>
            <a:r>
              <a:rPr lang="zh-CN" altLang="en-US"/>
              <a:t>的取值结果为假并且 </a:t>
            </a:r>
            <a:r>
              <a:rPr lang="en-US" altLang="zh-CN"/>
              <a:t>p</a:t>
            </a:r>
            <a:r>
              <a:rPr lang="zh-CN" altLang="en-US"/>
              <a:t>的结果为真；(4) </a:t>
            </a:r>
            <a:r>
              <a:rPr lang="en-US" altLang="zh-CN"/>
              <a:t>ci​</a:t>
            </a:r>
            <a:r>
              <a:rPr lang="zh-CN" altLang="en-US"/>
              <a:t>的取值结果为假并且 </a:t>
            </a:r>
            <a:r>
              <a:rPr lang="en-US" altLang="zh-CN"/>
              <a:t>p</a:t>
            </a:r>
            <a:r>
              <a:rPr lang="zh-CN" altLang="en-US"/>
              <a:t>的结果为假。</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8.24​ 广义无效子句覆盖（</a:t>
            </a:r>
            <a:r>
              <a:rPr lang="en-US" altLang="zh-CN"/>
              <a:t>General Inactive Clause Coverage, GICC）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不能决定​ </a:t>
            </a:r>
            <a:r>
              <a:rPr lang="en-US" altLang="zh-CN"/>
              <a:t>p。</a:t>
            </a:r>
            <a:r>
              <a:rPr lang="zh-CN" altLang="en-US"/>
              <a:t>对于每个 </a:t>
            </a:r>
            <a:r>
              <a:rPr lang="en-US" altLang="zh-CN"/>
              <a:t>ci​，TR</a:t>
            </a:r>
            <a:r>
              <a:rPr lang="zh-CN" altLang="en-US"/>
              <a:t>包括下面四个测试需求：(1) </a:t>
            </a:r>
            <a:r>
              <a:rPr lang="en-US" altLang="zh-CN"/>
              <a:t>ci​</a:t>
            </a:r>
            <a:r>
              <a:rPr lang="zh-CN" altLang="en-US"/>
              <a:t>的取值结果为真并且 </a:t>
            </a:r>
            <a:r>
              <a:rPr lang="en-US" altLang="zh-CN"/>
              <a:t>p</a:t>
            </a:r>
            <a:r>
              <a:rPr lang="zh-CN" altLang="en-US"/>
              <a:t>的结果为真；(2) </a:t>
            </a:r>
            <a:r>
              <a:rPr lang="en-US" altLang="zh-CN"/>
              <a:t>ci​</a:t>
            </a:r>
            <a:r>
              <a:rPr lang="zh-CN" altLang="en-US"/>
              <a:t>的取值结果为假并且 </a:t>
            </a:r>
            <a:r>
              <a:rPr lang="en-US" altLang="zh-CN"/>
              <a:t>p</a:t>
            </a:r>
            <a:r>
              <a:rPr lang="zh-CN" altLang="en-US"/>
              <a:t>的结果为真；(3) </a:t>
            </a:r>
            <a:r>
              <a:rPr lang="en-US" altLang="zh-CN"/>
              <a:t>cj​</a:t>
            </a:r>
            <a:r>
              <a:rPr lang="zh-CN" altLang="en-US"/>
              <a:t>的取值结果为假并且 </a:t>
            </a:r>
            <a:r>
              <a:rPr lang="en-US" altLang="zh-CN"/>
              <a:t>p</a:t>
            </a:r>
            <a:r>
              <a:rPr lang="zh-CN" altLang="en-US"/>
              <a:t>的结果为真；(4) </a:t>
            </a:r>
            <a:r>
              <a:rPr lang="en-US" altLang="zh-CN"/>
              <a:t>ci​</a:t>
            </a:r>
            <a:r>
              <a:rPr lang="zh-CN" altLang="en-US"/>
              <a:t>的取值结果为假并且 </a:t>
            </a:r>
            <a:r>
              <a:rPr lang="en-US" altLang="zh-CN"/>
              <a:t>p</a:t>
            </a:r>
            <a:r>
              <a:rPr lang="zh-CN" altLang="en-US"/>
              <a:t>的结果为假。次子句 </a:t>
            </a:r>
            <a:r>
              <a:rPr lang="en-US" altLang="zh-CN"/>
              <a:t>cj​</a:t>
            </a:r>
            <a:r>
              <a:rPr lang="zh-CN" altLang="en-US"/>
              <a:t>在这种情况下的取值可以不同。</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8.25​ 限制性无效子句覆盖（</a:t>
            </a:r>
            <a:r>
              <a:rPr lang="en-US" altLang="zh-CN"/>
              <a:t>Restricted Inactive Clause Coverage, RICC）</a:t>
            </a:r>
            <a:endParaRPr lang="en-US" altLang="zh-CN"/>
          </a:p>
          <a:p>
            <a:r>
              <a:rPr lang="zh-CN" altLang="en-US"/>
              <a:t>对于每个 </a:t>
            </a:r>
            <a:r>
              <a:rPr lang="en-US" altLang="zh-CN"/>
              <a:t>p∈P</a:t>
            </a:r>
            <a:r>
              <a:rPr lang="zh-CN" altLang="en-US"/>
              <a:t>和每条主子句 </a:t>
            </a:r>
            <a:r>
              <a:rPr lang="en-US" altLang="zh-CN"/>
              <a:t>ci​∈Cp​，</a:t>
            </a:r>
            <a:r>
              <a:rPr lang="zh-CN" altLang="en-US"/>
              <a:t>选择次子句 </a:t>
            </a:r>
            <a:r>
              <a:rPr lang="en-US" altLang="zh-CN"/>
              <a:t>cj​，j</a:t>
            </a:r>
            <a:r>
              <a:rPr lang="zh-CN" altLang="en-US"/>
              <a:t>=</a:t>
            </a:r>
            <a:r>
              <a:rPr lang="en-US" altLang="zh-CN"/>
              <a:t>i，</a:t>
            </a:r>
            <a:r>
              <a:rPr lang="zh-CN" altLang="en-US"/>
              <a:t>使得 </a:t>
            </a:r>
            <a:r>
              <a:rPr lang="en-US" altLang="zh-CN"/>
              <a:t>ci​</a:t>
            </a:r>
            <a:r>
              <a:rPr lang="zh-CN" altLang="en-US"/>
              <a:t>不能决定​ </a:t>
            </a:r>
            <a:r>
              <a:rPr lang="en-US" altLang="zh-CN"/>
              <a:t>p。</a:t>
            </a:r>
            <a:r>
              <a:rPr lang="zh-CN" altLang="en-US"/>
              <a:t>对于每个 </a:t>
            </a:r>
            <a:r>
              <a:rPr lang="en-US" altLang="zh-CN"/>
              <a:t>ci​，TR</a:t>
            </a:r>
            <a:r>
              <a:rPr lang="zh-CN" altLang="en-US"/>
              <a:t>包括下面四个测试需求：(1) </a:t>
            </a:r>
            <a:r>
              <a:rPr lang="en-US" altLang="zh-CN"/>
              <a:t>ci​</a:t>
            </a:r>
            <a:r>
              <a:rPr lang="zh-CN" altLang="en-US"/>
              <a:t>的取值结果为真并且 </a:t>
            </a:r>
            <a:r>
              <a:rPr lang="en-US" altLang="zh-CN"/>
              <a:t>p</a:t>
            </a:r>
            <a:r>
              <a:rPr lang="zh-CN" altLang="en-US"/>
              <a:t>的结果为真；(2) </a:t>
            </a:r>
            <a:r>
              <a:rPr lang="en-US" altLang="zh-CN"/>
              <a:t>ci​</a:t>
            </a:r>
            <a:r>
              <a:rPr lang="zh-CN" altLang="en-US"/>
              <a:t>的取值结果为假并且 </a:t>
            </a:r>
            <a:r>
              <a:rPr lang="en-US" altLang="zh-CN"/>
              <a:t>p</a:t>
            </a:r>
            <a:r>
              <a:rPr lang="zh-CN" altLang="en-US"/>
              <a:t>的结果为真；(3) </a:t>
            </a:r>
            <a:r>
              <a:rPr lang="en-US" altLang="zh-CN"/>
              <a:t>cj​</a:t>
            </a:r>
            <a:r>
              <a:rPr lang="zh-CN" altLang="en-US"/>
              <a:t>的取值结果为假并且 </a:t>
            </a:r>
            <a:r>
              <a:rPr lang="en-US" altLang="zh-CN"/>
              <a:t>p</a:t>
            </a:r>
            <a:r>
              <a:rPr lang="zh-CN" altLang="en-US"/>
              <a:t>的结果为真；(4) </a:t>
            </a:r>
            <a:r>
              <a:rPr lang="en-US" altLang="zh-CN"/>
              <a:t>ci​</a:t>
            </a:r>
            <a:r>
              <a:rPr lang="zh-CN" altLang="en-US"/>
              <a:t>的取值结果为假并且 </a:t>
            </a:r>
            <a:r>
              <a:rPr lang="en-US" altLang="zh-CN"/>
              <a:t>p</a:t>
            </a:r>
            <a:r>
              <a:rPr lang="zh-CN" altLang="en-US"/>
              <a:t>的结果为假。在 (1) 和 (2) 的情况下，次子句 </a:t>
            </a:r>
            <a:r>
              <a:rPr lang="en-US" altLang="zh-CN"/>
              <a:t>cj​</a:t>
            </a:r>
            <a:r>
              <a:rPr lang="zh-CN" altLang="en-US"/>
              <a:t>在这种情况下的取值必须相同。在 (3) 和 (4) 的情况下，次子句 </a:t>
            </a:r>
            <a:r>
              <a:rPr lang="en-US" altLang="zh-CN"/>
              <a:t>cj​</a:t>
            </a:r>
            <a:r>
              <a:rPr lang="zh-CN" altLang="en-US"/>
              <a:t>在这种情况下的取值也必须相同。</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50000"/>
          </a:bodyPr>
          <a:p>
            <a:r>
              <a:rPr lang="zh-CN" altLang="en-US"/>
              <a:t>8.2 语法逻辑覆盖准则</a:t>
            </a:r>
            <a:endParaRPr lang="zh-CN" altLang="en-US"/>
          </a:p>
          <a:p>
            <a:r>
              <a:rPr lang="zh-CN" altLang="en-US"/>
              <a:t>一个逻辑谓词无论写成何种形式，语义逻辑覆盖准则（有效的）都可以应用于这个谓词。这类准则的优势在于可以不计谓词的形式而测试软件的逻辑，但是这种优点有时也是缺点，因为使用这种方法创建的测试用例不能发现某些类型的故障。本节介绍另一种方法，基于这种方法的准则比语义覆盖更好，但是这些准则也相对更难理解和使用。</a:t>
            </a:r>
            <a:endParaRPr lang="zh-CN" altLang="en-US"/>
          </a:p>
          <a:p>
            <a:r>
              <a:rPr lang="zh-CN" altLang="en-US"/>
              <a:t>具体来说，本节考虑待测的谓词处于一种特殊的形式，称为析取范式（</a:t>
            </a:r>
            <a:r>
              <a:rPr lang="en-US" altLang="zh-CN"/>
              <a:t>Disjunctive Normal Form，DNF）。DNF </a:t>
            </a:r>
            <a:r>
              <a:rPr lang="zh-CN" altLang="en-US"/>
              <a:t>是表达逻辑表达式的一种通用形式，因为这样可以使用小而独立的部分来表述复杂的情况。假设一个规范定义，当符合某个条件时某种行为应该被触发。那么使用 </a:t>
            </a:r>
            <a:r>
              <a:rPr lang="en-US" altLang="zh-CN"/>
              <a:t>DNF </a:t>
            </a:r>
            <a:r>
              <a:rPr lang="zh-CN" altLang="en-US"/>
              <a:t>形式可以直接表达这个规范所定义的思维模型。</a:t>
            </a:r>
            <a:r>
              <a:rPr lang="en-US" altLang="zh-CN"/>
              <a:t>DNF </a:t>
            </a:r>
            <a:r>
              <a:rPr lang="zh-CN" altLang="en-US"/>
              <a:t>表达式与规范中对于问题的理解是非常接近的，这有助于测试结果的推导。具体来说，这建议测试应该关注谓词表示的细节。换句话说，它强烈地激发我们从语法的角度来处理逻辑覆盖准则的问题。</a:t>
            </a:r>
            <a:endParaRPr lang="zh-CN" altLang="en-US"/>
          </a:p>
          <a:p>
            <a:r>
              <a:rPr lang="zh-CN" altLang="en-US"/>
              <a:t>与之前的章节相比，这节使用不同的术语和标记法。因为这些术语和标记法与学术界最新的研究成果相一致，同时这些标记法可以更好地适用于 </a:t>
            </a:r>
            <a:r>
              <a:rPr lang="en-US" altLang="zh-CN"/>
              <a:t>DNF </a:t>
            </a:r>
            <a:r>
              <a:rPr lang="zh-CN" altLang="en-US"/>
              <a:t>形式的谓词。熟悉 </a:t>
            </a:r>
            <a:r>
              <a:rPr lang="en-US" altLang="zh-CN"/>
              <a:t>DNF </a:t>
            </a:r>
            <a:r>
              <a:rPr lang="zh-CN" altLang="en-US"/>
              <a:t>的读者可能还熟悉另一种形式，合取范式（</a:t>
            </a:r>
            <a:r>
              <a:rPr lang="en-US" altLang="zh-CN"/>
              <a:t>Conjunctive Normal Form，CNF）。DNF </a:t>
            </a:r>
            <a:r>
              <a:rPr lang="zh-CN" altLang="en-US"/>
              <a:t>的每种结果都有等价的 </a:t>
            </a:r>
            <a:r>
              <a:rPr lang="en-US" altLang="zh-CN"/>
              <a:t>CNF </a:t>
            </a:r>
            <a:r>
              <a:rPr lang="zh-CN" altLang="en-US"/>
              <a:t>形式。无论在工业界还是学术界中，</a:t>
            </a:r>
            <a:r>
              <a:rPr lang="en-US" altLang="zh-CN"/>
              <a:t>CNF </a:t>
            </a:r>
            <a:r>
              <a:rPr lang="zh-CN" altLang="en-US"/>
              <a:t>与 </a:t>
            </a:r>
            <a:r>
              <a:rPr lang="en-US" altLang="zh-CN"/>
              <a:t>DNF </a:t>
            </a:r>
            <a:r>
              <a:rPr lang="zh-CN" altLang="en-US"/>
              <a:t>相比都较少使用，所以我们在本书中也不会对其做深入讲解。</a:t>
            </a:r>
            <a:endParaRPr lang="zh-CN" altLang="en-US"/>
          </a:p>
          <a:p>
            <a:r>
              <a:rPr lang="zh-CN" altLang="en-US"/>
              <a:t>我们依然使用语义覆盖中用到的子句的概念。对于本节中大部分的内容，将子句简单地想象成一个布尔变量会很有帮助。字（</a:t>
            </a:r>
            <a:r>
              <a:rPr lang="en-US" altLang="zh-CN"/>
              <a:t>literal）</a:t>
            </a:r>
            <a:r>
              <a:rPr lang="zh-CN" altLang="en-US"/>
              <a:t>就是子句或是子句的否定（逻辑非运算）。项（</a:t>
            </a:r>
            <a:r>
              <a:rPr lang="en-US" altLang="zh-CN"/>
              <a:t>term）</a:t>
            </a:r>
            <a:r>
              <a:rPr lang="zh-CN" altLang="en-US"/>
              <a:t>是由逻辑与连接的一组字。一个 </a:t>
            </a:r>
            <a:r>
              <a:rPr lang="en-US" altLang="zh-CN"/>
              <a:t>DNF </a:t>
            </a:r>
            <a:r>
              <a:rPr lang="zh-CN" altLang="en-US"/>
              <a:t>谓词就是由逻辑或连接的一组项。</a:t>
            </a:r>
            <a:r>
              <a:rPr lang="en-US" altLang="zh-CN"/>
              <a:t>DNF </a:t>
            </a:r>
            <a:r>
              <a:rPr lang="zh-CN" altLang="en-US"/>
              <a:t>谓词中的项称为蕴涵项（</a:t>
            </a:r>
            <a:r>
              <a:rPr lang="en-US" altLang="zh-CN"/>
              <a:t>implicant），</a:t>
            </a:r>
            <a:r>
              <a:rPr lang="zh-CN" altLang="en-US"/>
              <a:t>因为如果一个单独的项为真，那么这意味着这个谓词为真。</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8.26​ 蕴涵项覆盖（</a:t>
            </a:r>
            <a:r>
              <a:rPr lang="en-US" altLang="zh-CN"/>
              <a:t>Implicant Coverage, IC）</a:t>
            </a:r>
            <a:endParaRPr lang="en-US" altLang="zh-CN"/>
          </a:p>
          <a:p>
            <a:r>
              <a:rPr lang="zh-CN" altLang="en-US"/>
              <a:t>已知一个谓词 </a:t>
            </a:r>
            <a:r>
              <a:rPr lang="en-US" altLang="zh-CN"/>
              <a:t>f</a:t>
            </a:r>
            <a:r>
              <a:rPr lang="zh-CN" altLang="en-US"/>
              <a:t>和非 </a:t>
            </a:r>
            <a:r>
              <a:rPr lang="en-US" altLang="zh-CN"/>
              <a:t>f(fˉ​) </a:t>
            </a:r>
            <a:r>
              <a:rPr lang="zh-CN" altLang="en-US"/>
              <a:t>的 </a:t>
            </a:r>
            <a:r>
              <a:rPr lang="en-US" altLang="zh-CN"/>
              <a:t>DNF </a:t>
            </a:r>
            <a:r>
              <a:rPr lang="zh-CN" altLang="en-US"/>
              <a:t>表达式，对于 </a:t>
            </a:r>
            <a:r>
              <a:rPr lang="en-US" altLang="zh-CN"/>
              <a:t>f</a:t>
            </a:r>
            <a:r>
              <a:rPr lang="zh-CN" altLang="en-US"/>
              <a:t>和 </a:t>
            </a:r>
            <a:r>
              <a:rPr lang="en-US" altLang="zh-CN"/>
              <a:t>fˉ​</a:t>
            </a:r>
            <a:r>
              <a:rPr lang="zh-CN" altLang="en-US"/>
              <a:t>中的每个蕴涵项，</a:t>
            </a:r>
            <a:r>
              <a:rPr lang="en-US" altLang="zh-CN"/>
              <a:t>TR</a:t>
            </a:r>
            <a:r>
              <a:rPr lang="zh-CN" altLang="en-US"/>
              <a:t>包括的测试需求要求蕴涵项的取值为真。</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我们需要一个额外的概念。一个蕴涵项是冗余的（</a:t>
            </a:r>
            <a:r>
              <a:rPr lang="en-US" altLang="zh-CN"/>
              <a:t>redundant）</a:t>
            </a:r>
            <a:r>
              <a:rPr lang="zh-CN" altLang="en-US"/>
              <a:t>如果去掉这个蕴涵项不会改变谓词的结果。例如，表达式：</a:t>
            </a:r>
            <a:endParaRPr lang="zh-CN" altLang="en-US"/>
          </a:p>
          <a:p>
            <a:r>
              <a:rPr lang="en-US" altLang="zh-CN"/>
              <a:t>f(a,b,c)=ab+ac+bcˉ</a:t>
            </a:r>
            <a:endParaRPr lang="en-US" altLang="zh-CN"/>
          </a:p>
          <a:p>
            <a:r>
              <a:rPr lang="zh-CN" altLang="en-US"/>
              <a:t>有三个主蕴涵项，但是第一个蕴涵项 </a:t>
            </a:r>
            <a:r>
              <a:rPr lang="en-US" altLang="zh-CN"/>
              <a:t>ab</a:t>
            </a:r>
            <a:r>
              <a:rPr lang="zh-CN" altLang="en-US"/>
              <a:t>是冗余的，因为 </a:t>
            </a:r>
            <a:r>
              <a:rPr lang="en-US" altLang="zh-CN"/>
              <a:t>ac+bcˉ</a:t>
            </a:r>
            <a:r>
              <a:rPr lang="zh-CN" altLang="en-US"/>
              <a:t>和 </a:t>
            </a:r>
            <a:r>
              <a:rPr lang="en-US" altLang="zh-CN"/>
              <a:t>ab+ac+bcˉ</a:t>
            </a:r>
            <a:r>
              <a:rPr lang="zh-CN" altLang="en-US"/>
              <a:t>的效果是完全一样的。一个 </a:t>
            </a:r>
            <a:r>
              <a:rPr lang="en-US" altLang="zh-CN"/>
              <a:t>DNF </a:t>
            </a:r>
            <a:r>
              <a:rPr lang="zh-CN" altLang="en-US"/>
              <a:t>表达式是极小的（</a:t>
            </a:r>
            <a:r>
              <a:rPr lang="en-US" altLang="zh-CN"/>
              <a:t>minimal），</a:t>
            </a:r>
            <a:r>
              <a:rPr lang="zh-CN" altLang="en-US"/>
              <a:t>如果其每个蕴涵项都是主蕴涵项而且没有一个蕴涵项是冗余的。</a:t>
            </a:r>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60000"/>
          </a:bodyPr>
          <a:p>
            <a:r>
              <a:rPr lang="zh-CN" altLang="en-US"/>
              <a:t>基于上面的定义，我们假设已经有一个谓词的极小 </a:t>
            </a:r>
            <a:r>
              <a:rPr lang="en-US" altLang="zh-CN"/>
              <a:t>DNF </a:t>
            </a:r>
            <a:r>
              <a:rPr lang="zh-CN" altLang="en-US"/>
              <a:t>表达式。已知一个谓词 </a:t>
            </a:r>
            <a:r>
              <a:rPr lang="en-US" altLang="zh-CN"/>
              <a:t>f</a:t>
            </a:r>
            <a:r>
              <a:rPr lang="zh-CN" altLang="en-US"/>
              <a:t>的极小 </a:t>
            </a:r>
            <a:r>
              <a:rPr lang="en-US" altLang="zh-CN"/>
              <a:t>DNF </a:t>
            </a:r>
            <a:r>
              <a:rPr lang="zh-CN" altLang="en-US"/>
              <a:t>表达式，第 </a:t>
            </a:r>
            <a:r>
              <a:rPr lang="en-US" altLang="zh-CN"/>
              <a:t>i</a:t>
            </a:r>
            <a:r>
              <a:rPr lang="zh-CN" altLang="en-US"/>
              <a:t>个蕴涵项的唯一真值点（</a:t>
            </a:r>
            <a:r>
              <a:rPr lang="en-US" altLang="zh-CN"/>
              <a:t>unique true point，UTP）</a:t>
            </a:r>
            <a:r>
              <a:rPr lang="zh-CN" altLang="en-US"/>
              <a:t>指的是对所有子句赋值，使得只有第 </a:t>
            </a:r>
            <a:r>
              <a:rPr lang="en-US" altLang="zh-CN"/>
              <a:t>i</a:t>
            </a:r>
            <a:r>
              <a:rPr lang="zh-CN" altLang="en-US"/>
              <a:t>个蕴涵项为真，其余的蕴涵项为假。注意，如果其他蕴涵项的结果不能为假的话，那么这个蕴涵项是冗余的，违反了我们关于 </a:t>
            </a:r>
            <a:r>
              <a:rPr lang="en-US" altLang="zh-CN"/>
              <a:t>f</a:t>
            </a:r>
            <a:r>
              <a:rPr lang="zh-CN" altLang="en-US"/>
              <a:t>是极小 </a:t>
            </a:r>
            <a:r>
              <a:rPr lang="en-US" altLang="zh-CN"/>
              <a:t>DNF </a:t>
            </a:r>
            <a:r>
              <a:rPr lang="zh-CN" altLang="en-US"/>
              <a:t>形式的假设。如果 </a:t>
            </a:r>
            <a:r>
              <a:rPr lang="en-US" altLang="zh-CN"/>
              <a:t>f</a:t>
            </a:r>
            <a:r>
              <a:rPr lang="zh-CN" altLang="en-US"/>
              <a:t>是：</a:t>
            </a:r>
            <a:endParaRPr lang="zh-CN" altLang="en-US"/>
          </a:p>
          <a:p>
            <a:r>
              <a:rPr lang="en-US" altLang="zh-CN"/>
              <a:t>f(a,b,c,d)=ab+cd</a:t>
            </a:r>
            <a:endParaRPr lang="en-US" altLang="zh-CN"/>
          </a:p>
          <a:p>
            <a:r>
              <a:rPr lang="zh-CN" altLang="en-US"/>
              <a:t>那么，对于蕴涵项 </a:t>
            </a:r>
            <a:r>
              <a:rPr lang="en-US" altLang="zh-CN"/>
              <a:t>ab，TTFT、TTTF</a:t>
            </a:r>
            <a:r>
              <a:rPr lang="zh-CN" altLang="en-US"/>
              <a:t>和 </a:t>
            </a:r>
            <a:r>
              <a:rPr lang="en-US" altLang="zh-CN"/>
              <a:t>TTFF</a:t>
            </a:r>
            <a:r>
              <a:rPr lang="zh-CN" altLang="en-US"/>
              <a:t>都是唯一真值点。</a:t>
            </a:r>
            <a:r>
              <a:rPr lang="en-US" altLang="zh-CN"/>
              <a:t>TTTT</a:t>
            </a:r>
            <a:r>
              <a:rPr lang="zh-CN" altLang="en-US"/>
              <a:t>是一个真值点，但不是一个唯一真值点，因为两个蕴涵项 </a:t>
            </a:r>
            <a:r>
              <a:rPr lang="en-US" altLang="zh-CN"/>
              <a:t>ab</a:t>
            </a:r>
            <a:r>
              <a:rPr lang="zh-CN" altLang="en-US"/>
              <a:t>和 </a:t>
            </a:r>
            <a:r>
              <a:rPr lang="en-US" altLang="zh-CN"/>
              <a:t>cd</a:t>
            </a:r>
            <a:r>
              <a:rPr lang="zh-CN" altLang="en-US"/>
              <a:t>对于 </a:t>
            </a:r>
            <a:r>
              <a:rPr lang="en-US" altLang="zh-CN"/>
              <a:t>TTTT</a:t>
            </a:r>
            <a:r>
              <a:rPr lang="zh-CN" altLang="en-US"/>
              <a:t>来说均为真。</a:t>
            </a:r>
            <a:endParaRPr lang="zh-CN" altLang="en-US"/>
          </a:p>
          <a:p>
            <a:r>
              <a:rPr lang="zh-CN" altLang="en-US"/>
              <a:t>对于唯一真值点，存在一个相对应的假值点。已知一个谓词 </a:t>
            </a:r>
            <a:r>
              <a:rPr lang="en-US" altLang="zh-CN"/>
              <a:t>f</a:t>
            </a:r>
            <a:r>
              <a:rPr lang="zh-CN" altLang="en-US"/>
              <a:t>的 </a:t>
            </a:r>
            <a:r>
              <a:rPr lang="en-US" altLang="zh-CN"/>
              <a:t>DNF </a:t>
            </a:r>
            <a:r>
              <a:rPr lang="zh-CN" altLang="en-US"/>
              <a:t>表达式，</a:t>
            </a:r>
            <a:r>
              <a:rPr lang="en-US" altLang="zh-CN"/>
              <a:t>f</a:t>
            </a:r>
            <a:r>
              <a:rPr lang="zh-CN" altLang="en-US"/>
              <a:t>中蕴涵项 </a:t>
            </a:r>
            <a:r>
              <a:rPr lang="en-US" altLang="zh-CN"/>
              <a:t>i</a:t>
            </a:r>
            <a:r>
              <a:rPr lang="zh-CN" altLang="en-US"/>
              <a:t>的子句 </a:t>
            </a:r>
            <a:r>
              <a:rPr lang="en-US" altLang="zh-CN"/>
              <a:t>c</a:t>
            </a:r>
            <a:r>
              <a:rPr lang="zh-CN" altLang="en-US"/>
              <a:t>的一个近似假值点（</a:t>
            </a:r>
            <a:r>
              <a:rPr lang="en-US" altLang="zh-CN"/>
              <a:t>near false point，NFP）</a:t>
            </a:r>
            <a:r>
              <a:rPr lang="zh-CN" altLang="en-US"/>
              <a:t>指的是对所有子句赋值，使得 </a:t>
            </a:r>
            <a:r>
              <a:rPr lang="en-US" altLang="zh-CN"/>
              <a:t>i</a:t>
            </a:r>
            <a:r>
              <a:rPr lang="zh-CN" altLang="en-US"/>
              <a:t>为假。但是如果对 </a:t>
            </a:r>
            <a:r>
              <a:rPr lang="en-US" altLang="zh-CN"/>
              <a:t>c</a:t>
            </a:r>
            <a:r>
              <a:rPr lang="zh-CN" altLang="en-US"/>
              <a:t>取反（逻辑非运算）而其他子句取值保持不变，那么 </a:t>
            </a:r>
            <a:r>
              <a:rPr lang="en-US" altLang="zh-CN"/>
              <a:t>i</a:t>
            </a:r>
            <a:r>
              <a:rPr lang="zh-CN" altLang="en-US"/>
              <a:t>的结果将变为真（因此 </a:t>
            </a:r>
            <a:r>
              <a:rPr lang="en-US" altLang="zh-CN"/>
              <a:t>f</a:t>
            </a:r>
            <a:r>
              <a:rPr lang="zh-CN" altLang="en-US"/>
              <a:t>的结果也为真）。例如，如果 </a:t>
            </a:r>
            <a:r>
              <a:rPr lang="en-US" altLang="zh-CN"/>
              <a:t>f</a:t>
            </a:r>
            <a:r>
              <a:rPr lang="zh-CN" altLang="en-US"/>
              <a:t>是：</a:t>
            </a:r>
            <a:endParaRPr lang="zh-CN" altLang="en-US"/>
          </a:p>
          <a:p>
            <a:r>
              <a:rPr lang="en-US" altLang="zh-CN"/>
              <a:t>f(a,b,c,d)=ab+cd</a:t>
            </a:r>
            <a:endParaRPr lang="en-US" altLang="zh-CN"/>
          </a:p>
          <a:p>
            <a:r>
              <a:rPr lang="zh-CN" altLang="en-US"/>
              <a:t>那么对于蕴涵项 </a:t>
            </a:r>
            <a:r>
              <a:rPr lang="en-US" altLang="zh-CN"/>
              <a:t>ab</a:t>
            </a:r>
            <a:r>
              <a:rPr lang="zh-CN" altLang="en-US"/>
              <a:t>中的子句 </a:t>
            </a:r>
            <a:r>
              <a:rPr lang="en-US" altLang="zh-CN"/>
              <a:t>a</a:t>
            </a:r>
            <a:r>
              <a:rPr lang="zh-CN" altLang="en-US"/>
              <a:t>来说，近似假值点是 </a:t>
            </a:r>
            <a:r>
              <a:rPr lang="en-US" altLang="zh-CN"/>
              <a:t>FTFF、FTFT</a:t>
            </a:r>
            <a:r>
              <a:rPr lang="zh-CN" altLang="en-US"/>
              <a:t>和 </a:t>
            </a:r>
            <a:r>
              <a:rPr lang="en-US" altLang="zh-CN"/>
              <a:t>FTTF，</a:t>
            </a:r>
            <a:r>
              <a:rPr lang="zh-CN" altLang="en-US"/>
              <a:t>对于蕴涵项 </a:t>
            </a:r>
            <a:r>
              <a:rPr lang="en-US" altLang="zh-CN"/>
              <a:t>ab</a:t>
            </a:r>
            <a:r>
              <a:rPr lang="zh-CN" altLang="en-US"/>
              <a:t>中的子句 </a:t>
            </a:r>
            <a:r>
              <a:rPr lang="en-US" altLang="zh-CN"/>
              <a:t>b</a:t>
            </a:r>
            <a:r>
              <a:rPr lang="zh-CN" altLang="en-US"/>
              <a:t>来说，近似假值点是 </a:t>
            </a:r>
            <a:r>
              <a:rPr lang="en-US" altLang="zh-CN"/>
              <a:t>TFFF、TFFT</a:t>
            </a:r>
            <a:r>
              <a:rPr lang="zh-CN" altLang="en-US"/>
              <a:t>和 </a:t>
            </a:r>
            <a:r>
              <a:rPr lang="en-US" altLang="zh-CN"/>
              <a:t>TFTF。</a:t>
            </a:r>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表 8-1 </a:t>
            </a:r>
            <a:r>
              <a:rPr lang="en-US" altLang="zh-CN"/>
              <a:t>DNF </a:t>
            </a:r>
            <a:r>
              <a:rPr lang="zh-CN" altLang="en-US"/>
              <a:t>故障类型</a:t>
            </a:r>
            <a:endParaRPr lang="zh-CN" altLang="en-US"/>
          </a:p>
        </p:txBody>
      </p:sp>
      <p:sp>
        <p:nvSpPr>
          <p:cNvPr id="3" name="内容占位符 2"/>
          <p:cNvSpPr>
            <a:spLocks noGrp="1"/>
          </p:cNvSpPr>
          <p:nvPr>
            <p:ph idx="1"/>
          </p:nvPr>
        </p:nvSpPr>
        <p:spPr/>
        <p:txBody>
          <a:bodyPr/>
          <a:p>
            <a:endParaRPr lang="zh-CN" altLang="en-US"/>
          </a:p>
        </p:txBody>
      </p:sp>
      <p:graphicFrame>
        <p:nvGraphicFramePr>
          <p:cNvPr id="4" name="表格 3"/>
          <p:cNvGraphicFramePr/>
          <p:nvPr/>
        </p:nvGraphicFramePr>
        <p:xfrm>
          <a:off x="3716020" y="1452753"/>
          <a:ext cx="3075305" cy="0"/>
        </p:xfrm>
        <a:graphic>
          <a:graphicData uri="http://schemas.openxmlformats.org/drawingml/2006/table">
            <a:tbl>
              <a:tblPr/>
              <a:tblGrid>
                <a:gridCol w="2037715"/>
                <a:gridCol w="2722245"/>
              </a:tblGrid>
              <a:tr h="306705">
                <a:tc>
                  <a:txBody>
                    <a:bodyPr/>
                    <a:p>
                      <a:pPr marL="0" indent="0" algn="ctr">
                        <a:spcBef>
                          <a:spcPct val="0"/>
                        </a:spcBef>
                        <a:spcAft>
                          <a:spcPts val="600"/>
                        </a:spcAft>
                      </a:pPr>
                      <a:r>
                        <a:rPr lang="zh-CN" altLang="en-US" sz="1100" b="1">
                          <a:latin typeface="宋体" panose="02010600030101010101" pitchFamily="2" charset="-122"/>
                          <a:ea typeface="宋体" panose="02010600030101010101" pitchFamily="2" charset="-122"/>
                        </a:rPr>
                        <a:t>故障</a:t>
                      </a:r>
                      <a:endParaRPr lang="zh-CN" altLang="en-US" sz="1100" b="1">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b="1">
                          <a:latin typeface="宋体" panose="02010600030101010101" pitchFamily="2" charset="-122"/>
                          <a:ea typeface="宋体" panose="02010600030101010101" pitchFamily="2" charset="-122"/>
                        </a:rPr>
                        <a:t>描述</a:t>
                      </a:r>
                      <a:endParaRPr lang="zh-CN" altLang="en-US" sz="1100" b="1">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9265">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表达式否定故障 </a:t>
                      </a:r>
                      <a:r>
                        <a:rPr lang="en-US" altLang="zh-CN" sz="1100">
                          <a:latin typeface="宋体" panose="02010600030101010101" pitchFamily="2" charset="-122"/>
                          <a:ea typeface="宋体" panose="02010600030101010101" pitchFamily="2" charset="-122"/>
                        </a:rPr>
                        <a:t>(Expression Negation Fault, ENF)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一个表达式被不正确地写成它的否定形式：</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项否定故障 </a:t>
                      </a:r>
                      <a:r>
                        <a:rPr lang="en-US" altLang="zh-CN" sz="1100">
                          <a:latin typeface="宋体" panose="02010600030101010101" pitchFamily="2" charset="-122"/>
                          <a:ea typeface="宋体" panose="02010600030101010101" pitchFamily="2" charset="-122"/>
                        </a:rPr>
                        <a:t>(Term Negation Fault, TNF)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一个项被不正确地写成它的否定形式：</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项遗漏故障 </a:t>
                      </a:r>
                      <a:r>
                        <a:rPr lang="en-US" altLang="zh-CN" sz="1100">
                          <a:latin typeface="宋体" panose="02010600030101010101" pitchFamily="2" charset="-122"/>
                          <a:ea typeface="宋体" panose="02010600030101010101" pitchFamily="2" charset="-122"/>
                        </a:rPr>
                        <a:t>(Term Omission Fault, TOF)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一个项被不正确地遗漏了：</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9265">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字否定故障 </a:t>
                      </a:r>
                      <a:r>
                        <a:rPr lang="en-US" altLang="zh-CN" sz="1100">
                          <a:latin typeface="宋体" panose="02010600030101010101" pitchFamily="2" charset="-122"/>
                          <a:ea typeface="宋体" panose="02010600030101010101" pitchFamily="2" charset="-122"/>
                        </a:rPr>
                        <a:t>(Literal Negation Fault, LNF)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一个字被不正确地写成它的否定形式：</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字引用故障 </a:t>
                      </a:r>
                      <a:r>
                        <a:rPr lang="en-US" altLang="zh-CN" sz="1100">
                          <a:latin typeface="宋体" panose="02010600030101010101" pitchFamily="2" charset="-122"/>
                          <a:ea typeface="宋体" panose="02010600030101010101" pitchFamily="2" charset="-122"/>
                        </a:rPr>
                        <a:t>(Literal Reference Fault, LRF)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一个字被另一个字不正确地取代了：</a:t>
                      </a:r>
                      <a:r>
                        <a:rPr lang="en-US" altLang="zh-CN" sz="1100">
                          <a:latin typeface="宋体" panose="02010600030101010101" pitchFamily="2" charset="-122"/>
                          <a:ea typeface="宋体" panose="02010600030101010101" pitchFamily="2" charset="-122"/>
                        </a:rPr>
                        <a:t>f=ab+bcd</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f′=ad+bcd</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字遗漏故障 </a:t>
                      </a:r>
                      <a:r>
                        <a:rPr lang="en-US" altLang="zh-CN" sz="1100">
                          <a:latin typeface="宋体" panose="02010600030101010101" pitchFamily="2" charset="-122"/>
                          <a:ea typeface="宋体" panose="02010600030101010101" pitchFamily="2" charset="-122"/>
                        </a:rPr>
                        <a:t>(Literal Omission Fault, LOF)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一个字被不正确地遗漏了：</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字插入故障 </a:t>
                      </a:r>
                      <a:r>
                        <a:rPr lang="en-US" altLang="zh-CN" sz="1100">
                          <a:latin typeface="宋体" panose="02010600030101010101" pitchFamily="2" charset="-122"/>
                          <a:ea typeface="宋体" panose="02010600030101010101" pitchFamily="2" charset="-122"/>
                        </a:rPr>
                        <a:t>(Literal Insertion Fault, LIF)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一个字被不正确地加入到一个项中：</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9265">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操作符引用故障 </a:t>
                      </a:r>
                      <a:r>
                        <a:rPr lang="en-US" altLang="zh-CN" sz="1100">
                          <a:latin typeface="宋体" panose="02010600030101010101" pitchFamily="2" charset="-122"/>
                          <a:ea typeface="宋体" panose="02010600030101010101" pitchFamily="2" charset="-122"/>
                        </a:rPr>
                        <a:t>(Operator Reference Fault, ORF+)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 ‘或’ 操作符被 ‘与’ 操作符不正确地替换：</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r h="468630">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操作符引用故障 </a:t>
                      </a:r>
                      <a:r>
                        <a:rPr lang="en-US" altLang="zh-CN" sz="1100">
                          <a:latin typeface="宋体" panose="02010600030101010101" pitchFamily="2" charset="-122"/>
                          <a:ea typeface="宋体" panose="02010600030101010101" pitchFamily="2" charset="-122"/>
                        </a:rPr>
                        <a:t>(Operator Reference Fault, ORF*)</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c>
                  <a:txBody>
                    <a:bodyPr/>
                    <a:p>
                      <a:pPr marL="0" indent="0" algn="ctr">
                        <a:spcBef>
                          <a:spcPct val="0"/>
                        </a:spcBef>
                        <a:spcAft>
                          <a:spcPts val="600"/>
                        </a:spcAft>
                      </a:pPr>
                      <a:r>
                        <a:rPr lang="zh-CN" altLang="en-US" sz="1100">
                          <a:latin typeface="宋体" panose="02010600030101010101" pitchFamily="2" charset="-122"/>
                          <a:ea typeface="宋体" panose="02010600030101010101" pitchFamily="2" charset="-122"/>
                        </a:rPr>
                        <a:t>一个 ‘与’ 操作符被 ‘或’ 操作符不正确地替换：</a:t>
                      </a:r>
                      <a:r>
                        <a:rPr lang="en-US" altLang="zh-CN" sz="1100">
                          <a:latin typeface="宋体" panose="02010600030101010101" pitchFamily="2" charset="-122"/>
                          <a:ea typeface="宋体" panose="02010600030101010101" pitchFamily="2" charset="-122"/>
                        </a:rPr>
                        <a:t>f=ab+c</a:t>
                      </a:r>
                      <a:r>
                        <a:rPr lang="zh-CN" altLang="en-US" sz="1100">
                          <a:latin typeface="宋体" panose="02010600030101010101" pitchFamily="2" charset="-122"/>
                          <a:ea typeface="宋体" panose="02010600030101010101" pitchFamily="2" charset="-122"/>
                        </a:rPr>
                        <a:t>写作 </a:t>
                      </a:r>
                      <a:r>
                        <a:rPr lang="en-US" altLang="zh-CN" sz="1100">
                          <a:latin typeface="宋体" panose="02010600030101010101" pitchFamily="2" charset="-122"/>
                          <a:ea typeface="宋体" panose="02010600030101010101" pitchFamily="2" charset="-122"/>
                        </a:rPr>
                        <a:t>f′=a+b+c</a:t>
                      </a:r>
                      <a:endParaRPr lang="en-US" altLang="zh-CN" sz="1100">
                        <a:latin typeface="宋体" panose="02010600030101010101" pitchFamily="2" charset="-122"/>
                        <a:ea typeface="宋体" panose="02010600030101010101" pitchFamily="2" charset="-122"/>
                      </a:endParaRPr>
                    </a:p>
                  </a:txBody>
                  <a:tcPr marL="0" marR="97790" marT="81915" marB="81915" anchor="ctr" anchorCtr="0">
                    <a:lnL w="6350" cap="flat" cmpd="sng">
                      <a:solidFill>
                        <a:srgbClr val="E0E0E0"/>
                      </a:solidFill>
                      <a:prstDash val="solid"/>
                      <a:headEnd type="none" w="med" len="med"/>
                      <a:tailEnd type="none" w="med" len="med"/>
                    </a:lnL>
                    <a:lnR w="6350" cap="flat" cmpd="sng">
                      <a:solidFill>
                        <a:srgbClr val="E0E0E0"/>
                      </a:solidFill>
                      <a:prstDash val="solid"/>
                      <a:headEnd type="none" w="med" len="med"/>
                      <a:tailEnd type="none" w="med" len="med"/>
                    </a:lnR>
                    <a:lnT w="6350" cap="flat" cmpd="sng">
                      <a:solidFill>
                        <a:srgbClr val="E0E0E0"/>
                      </a:solidFill>
                      <a:prstDash val="solid"/>
                      <a:headEnd type="none" w="med" len="med"/>
                      <a:tailEnd type="none" w="med" len="med"/>
                    </a:lnT>
                    <a:lnB w="6350" cap="flat" cmpd="sng">
                      <a:solidFill>
                        <a:srgbClr val="E0E0E0"/>
                      </a:solidFill>
                      <a:prstDash val="solid"/>
                      <a:headEnd type="none" w="med" len="med"/>
                      <a:tailEnd type="none" w="med" len="med"/>
                    </a:lnB>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8.27​ 多项唯一真值点覆盖（</a:t>
            </a:r>
            <a:r>
              <a:rPr lang="en-US" altLang="zh-CN"/>
              <a:t>Multiple Unique True Points, MUTP）</a:t>
            </a:r>
            <a:endParaRPr lang="en-US" altLang="zh-CN"/>
          </a:p>
          <a:p>
            <a:r>
              <a:rPr lang="zh-CN" altLang="en-US"/>
              <a:t>已知一个谓词 </a:t>
            </a:r>
            <a:r>
              <a:rPr lang="en-US" altLang="zh-CN"/>
              <a:t>f</a:t>
            </a:r>
            <a:r>
              <a:rPr lang="zh-CN" altLang="en-US"/>
              <a:t>的极小 </a:t>
            </a:r>
            <a:r>
              <a:rPr lang="en-US" altLang="zh-CN"/>
              <a:t>DNF </a:t>
            </a:r>
            <a:r>
              <a:rPr lang="zh-CN" altLang="en-US"/>
              <a:t>表达式，对于 </a:t>
            </a:r>
            <a:r>
              <a:rPr lang="en-US" altLang="zh-CN"/>
              <a:t>f</a:t>
            </a:r>
            <a:r>
              <a:rPr lang="zh-CN" altLang="en-US"/>
              <a:t>中的每个蕴涵项 </a:t>
            </a:r>
            <a:r>
              <a:rPr lang="en-US" altLang="zh-CN"/>
              <a:t>i，</a:t>
            </a:r>
            <a:r>
              <a:rPr lang="zh-CN" altLang="en-US"/>
              <a:t>选择唯一真值点（</a:t>
            </a:r>
            <a:r>
              <a:rPr lang="en-US" altLang="zh-CN"/>
              <a:t>UTP）</a:t>
            </a:r>
            <a:r>
              <a:rPr lang="zh-CN" altLang="en-US"/>
              <a:t>使得不在 </a:t>
            </a:r>
            <a:r>
              <a:rPr lang="en-US" altLang="zh-CN"/>
              <a:t>i</a:t>
            </a:r>
            <a:r>
              <a:rPr lang="zh-CN" altLang="en-US"/>
              <a:t>中的子句的取值包括真和假。</a:t>
            </a:r>
            <a:endParaRPr lang="zh-CN" altLang="en-US"/>
          </a:p>
          <a:p>
            <a:r>
              <a:rPr lang="zh-CN" altLang="en-US"/>
              <a:t>准则 8.28​ 唯一真值点-近似假值点配对覆盖（</a:t>
            </a:r>
            <a:r>
              <a:rPr lang="en-US" altLang="zh-CN"/>
              <a:t>Corresponding Unique True Point and Near False Point Pair Coverage, CUTPNFP）</a:t>
            </a:r>
            <a:endParaRPr lang="en-US" altLang="zh-CN"/>
          </a:p>
          <a:p>
            <a:r>
              <a:rPr lang="zh-CN" altLang="en-US"/>
              <a:t>已知一个谓词 </a:t>
            </a:r>
            <a:r>
              <a:rPr lang="en-US" altLang="zh-CN"/>
              <a:t>f</a:t>
            </a:r>
            <a:r>
              <a:rPr lang="zh-CN" altLang="en-US"/>
              <a:t>的极小 </a:t>
            </a:r>
            <a:r>
              <a:rPr lang="en-US" altLang="zh-CN"/>
              <a:t>DNF </a:t>
            </a:r>
            <a:r>
              <a:rPr lang="zh-CN" altLang="en-US"/>
              <a:t>表达式，对于每个蕴涵项 </a:t>
            </a:r>
            <a:r>
              <a:rPr lang="en-US" altLang="zh-CN"/>
              <a:t>i</a:t>
            </a:r>
            <a:r>
              <a:rPr lang="zh-CN" altLang="en-US"/>
              <a:t>中的每个字 </a:t>
            </a:r>
            <a:r>
              <a:rPr lang="en-US" altLang="zh-CN"/>
              <a:t>c，TR</a:t>
            </a:r>
            <a:r>
              <a:rPr lang="zh-CN" altLang="en-US"/>
              <a:t>包含对于 </a:t>
            </a:r>
            <a:r>
              <a:rPr lang="en-US" altLang="zh-CN"/>
              <a:t>i</a:t>
            </a:r>
            <a:r>
              <a:rPr lang="zh-CN" altLang="en-US"/>
              <a:t>的一个唯一真值点和 </a:t>
            </a:r>
            <a:r>
              <a:rPr lang="en-US" altLang="zh-CN"/>
              <a:t>i</a:t>
            </a:r>
            <a:r>
              <a:rPr lang="zh-CN" altLang="en-US"/>
              <a:t>中 </a:t>
            </a:r>
            <a:r>
              <a:rPr lang="en-US" altLang="zh-CN"/>
              <a:t>c</a:t>
            </a:r>
            <a:r>
              <a:rPr lang="zh-CN" altLang="en-US"/>
              <a:t>的一个近似假值点，使得这两个点的区别只在于 </a:t>
            </a:r>
            <a:r>
              <a:rPr lang="en-US" altLang="zh-CN"/>
              <a:t>c</a:t>
            </a:r>
            <a:r>
              <a:rPr lang="zh-CN" altLang="en-US"/>
              <a:t>的取值。</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准则 8.29​ 多项近似假值点覆盖（</a:t>
            </a:r>
            <a:r>
              <a:rPr lang="en-US" altLang="zh-CN"/>
              <a:t>Multiple Near False Point Coverage, MNFP）</a:t>
            </a:r>
            <a:endParaRPr lang="en-US" altLang="zh-CN"/>
          </a:p>
          <a:p>
            <a:r>
              <a:rPr lang="zh-CN" altLang="en-US"/>
              <a:t>已知一个谓词 </a:t>
            </a:r>
            <a:r>
              <a:rPr lang="en-US" altLang="zh-CN"/>
              <a:t>f</a:t>
            </a:r>
            <a:r>
              <a:rPr lang="zh-CN" altLang="en-US"/>
              <a:t>的极小 </a:t>
            </a:r>
            <a:r>
              <a:rPr lang="en-US" altLang="zh-CN"/>
              <a:t>DNF </a:t>
            </a:r>
            <a:r>
              <a:rPr lang="zh-CN" altLang="en-US"/>
              <a:t>表达式，对于每个蕴涵项 </a:t>
            </a:r>
            <a:r>
              <a:rPr lang="en-US" altLang="zh-CN"/>
              <a:t>i</a:t>
            </a:r>
            <a:r>
              <a:rPr lang="zh-CN" altLang="en-US"/>
              <a:t>中的每个字 </a:t>
            </a:r>
            <a:r>
              <a:rPr lang="en-US" altLang="zh-CN"/>
              <a:t>c，</a:t>
            </a:r>
            <a:r>
              <a:rPr lang="zh-CN" altLang="en-US"/>
              <a:t>选择近似假值点（</a:t>
            </a:r>
            <a:r>
              <a:rPr lang="en-US" altLang="zh-CN"/>
              <a:t>NFP）</a:t>
            </a:r>
            <a:r>
              <a:rPr lang="zh-CN" altLang="en-US"/>
              <a:t>使得不在 </a:t>
            </a:r>
            <a:r>
              <a:rPr lang="en-US" altLang="zh-CN"/>
              <a:t>i</a:t>
            </a:r>
            <a:r>
              <a:rPr lang="zh-CN" altLang="en-US"/>
              <a:t>中的子句的取值包括真和假。</a:t>
            </a:r>
            <a:endParaRPr lang="zh-CN" altLang="en-US"/>
          </a:p>
          <a:p>
            <a:r>
              <a:rPr lang="zh-CN" altLang="en-US"/>
              <a:t>准则 8.30​ </a:t>
            </a:r>
            <a:r>
              <a:rPr lang="en-US" altLang="zh-CN"/>
              <a:t>MUMCUT</a:t>
            </a:r>
            <a:endParaRPr lang="en-US" altLang="zh-CN"/>
          </a:p>
          <a:p>
            <a:r>
              <a:rPr lang="zh-CN" altLang="en-US"/>
              <a:t>已知一个谓词 </a:t>
            </a:r>
            <a:r>
              <a:rPr lang="en-US" altLang="zh-CN"/>
              <a:t>f</a:t>
            </a:r>
            <a:r>
              <a:rPr lang="zh-CN" altLang="en-US"/>
              <a:t>的极小 </a:t>
            </a:r>
            <a:r>
              <a:rPr lang="en-US" altLang="zh-CN"/>
              <a:t>DNF </a:t>
            </a:r>
            <a:r>
              <a:rPr lang="zh-CN" altLang="en-US"/>
              <a:t>表达式，对于 </a:t>
            </a:r>
            <a:r>
              <a:rPr lang="en-US" altLang="zh-CN"/>
              <a:t>f</a:t>
            </a:r>
            <a:r>
              <a:rPr lang="zh-CN" altLang="en-US"/>
              <a:t>应用 </a:t>
            </a:r>
            <a:r>
              <a:rPr lang="en-US" altLang="zh-CN"/>
              <a:t>MUTP、CUTPNFP </a:t>
            </a:r>
            <a:r>
              <a:rPr lang="zh-CN" altLang="en-US"/>
              <a:t>和 </a:t>
            </a:r>
            <a:r>
              <a:rPr lang="en-US" altLang="zh-CN"/>
              <a:t>MNFP。</a:t>
            </a:r>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 UFT </a:t>
            </a:r>
            <a:r>
              <a:rPr lang="zh-CN" altLang="zh-CN" b="1" dirty="0"/>
              <a:t>自动化功能测试</a:t>
            </a:r>
            <a:r>
              <a:rPr lang="en-US" altLang="zh-CN" b="1" dirty="0"/>
              <a:t> (2 min)</a:t>
            </a:r>
            <a:endParaRPr lang="zh-CN" altLang="en-US" dirty="0"/>
          </a:p>
        </p:txBody>
      </p:sp>
      <p:sp>
        <p:nvSpPr>
          <p:cNvPr id="3" name="内容占位符 2"/>
          <p:cNvSpPr>
            <a:spLocks noGrp="1"/>
          </p:cNvSpPr>
          <p:nvPr>
            <p:ph idx="1"/>
          </p:nvPr>
        </p:nvSpPr>
        <p:spPr/>
        <p:txBody>
          <a:bodyPr>
            <a:normAutofit/>
          </a:bodyPr>
          <a:lstStyle/>
          <a:p>
            <a:pPr lvl="0">
              <a:lnSpc>
                <a:spcPct val="150000"/>
              </a:lnSpc>
            </a:pPr>
            <a:r>
              <a:rPr lang="zh-CN" altLang="zh-CN" b="1" dirty="0"/>
              <a:t>脚本展示</a:t>
            </a:r>
            <a:r>
              <a:rPr lang="zh-CN" altLang="zh-CN" dirty="0"/>
              <a:t>：展示使用</a:t>
            </a:r>
            <a:r>
              <a:rPr lang="en-US" altLang="zh-CN" dirty="0"/>
              <a:t> UFT (Unified Functional Testing) </a:t>
            </a:r>
            <a:r>
              <a:rPr lang="zh-CN" altLang="zh-CN" dirty="0"/>
              <a:t>录制或编写的对象库及脚本。</a:t>
            </a:r>
            <a:endParaRPr lang="zh-CN" altLang="zh-CN" dirty="0"/>
          </a:p>
          <a:p>
            <a:pPr lvl="0">
              <a:lnSpc>
                <a:spcPct val="150000"/>
              </a:lnSpc>
            </a:pPr>
            <a:r>
              <a:rPr lang="zh-CN" altLang="zh-CN" b="1" dirty="0"/>
              <a:t>检查点设计</a:t>
            </a:r>
            <a:r>
              <a:rPr lang="zh-CN" altLang="zh-CN" dirty="0"/>
              <a:t>：说明在自动化脚本中设置了哪些</a:t>
            </a:r>
            <a:r>
              <a:rPr lang="en-US" altLang="zh-CN" dirty="0"/>
              <a:t> Checkpoints</a:t>
            </a:r>
            <a:r>
              <a:rPr lang="zh-CN" altLang="zh-CN" dirty="0"/>
              <a:t>（如页面文本校验、数据库校验）。</a:t>
            </a:r>
            <a:endParaRPr lang="zh-CN" altLang="zh-CN" dirty="0"/>
          </a:p>
          <a:p>
            <a:pPr lvl="0">
              <a:lnSpc>
                <a:spcPct val="150000"/>
              </a:lnSpc>
            </a:pPr>
            <a:r>
              <a:rPr lang="zh-CN" altLang="zh-CN" b="1" dirty="0"/>
              <a:t>运行结果</a:t>
            </a:r>
            <a:r>
              <a:rPr lang="zh-CN" altLang="zh-CN" dirty="0"/>
              <a:t>：展示测试报告（</a:t>
            </a:r>
            <a:r>
              <a:rPr lang="en-US" altLang="zh-CN" dirty="0"/>
              <a:t>Test Results</a:t>
            </a:r>
            <a:r>
              <a:rPr lang="zh-CN" altLang="zh-CN" dirty="0"/>
              <a:t>），重点说明发现的回归错误。</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 </a:t>
            </a:r>
            <a:r>
              <a:rPr lang="zh-CN" altLang="zh-CN" b="1" dirty="0"/>
              <a:t>总结与</a:t>
            </a:r>
            <a:r>
              <a:rPr lang="en-US" altLang="zh-CN" b="1" dirty="0"/>
              <a:t> Q&amp;A (3 min)</a:t>
            </a:r>
            <a:endParaRPr lang="zh-CN" altLang="en-US" dirty="0"/>
          </a:p>
        </p:txBody>
      </p:sp>
      <p:sp>
        <p:nvSpPr>
          <p:cNvPr id="3" name="内容占位符 2"/>
          <p:cNvSpPr>
            <a:spLocks noGrp="1"/>
          </p:cNvSpPr>
          <p:nvPr>
            <p:ph idx="1"/>
          </p:nvPr>
        </p:nvSpPr>
        <p:spPr/>
        <p:txBody>
          <a:bodyPr/>
          <a:lstStyle/>
          <a:p>
            <a:pPr lvl="0">
              <a:lnSpc>
                <a:spcPct val="150000"/>
              </a:lnSpc>
            </a:pPr>
            <a:r>
              <a:rPr lang="zh-CN" altLang="zh-CN" b="1" dirty="0"/>
              <a:t>测试结论</a:t>
            </a:r>
            <a:r>
              <a:rPr lang="zh-CN" altLang="zh-CN" dirty="0"/>
              <a:t>：本项目共发现多少</a:t>
            </a:r>
            <a:r>
              <a:rPr lang="en-US" altLang="zh-CN" dirty="0"/>
              <a:t> Bug</a:t>
            </a:r>
            <a:r>
              <a:rPr lang="zh-CN" altLang="zh-CN" dirty="0"/>
              <a:t>，修复情况如何。</a:t>
            </a:r>
            <a:endParaRPr lang="zh-CN" altLang="zh-CN" dirty="0"/>
          </a:p>
          <a:p>
            <a:pPr lvl="0">
              <a:lnSpc>
                <a:spcPct val="150000"/>
              </a:lnSpc>
            </a:pPr>
            <a:r>
              <a:rPr lang="zh-CN" altLang="zh-CN" b="1" dirty="0"/>
              <a:t>反思</a:t>
            </a:r>
            <a:r>
              <a:rPr lang="zh-CN" altLang="zh-CN" dirty="0"/>
              <a:t>：在该项目中学到的测试思维。</a:t>
            </a:r>
            <a:r>
              <a:rPr lang="en-US" altLang="zh-CN" dirty="0"/>
              <a:t> </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8578</Words>
  <Application>WPS 演示</Application>
  <PresentationFormat>宽屏</PresentationFormat>
  <Paragraphs>207</Paragraphs>
  <Slides>36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36</vt:i4>
      </vt:variant>
    </vt:vector>
  </HeadingPairs>
  <TitlesOfParts>
    <vt:vector size="47" baseType="lpstr">
      <vt:lpstr>Arial</vt:lpstr>
      <vt:lpstr>宋体</vt:lpstr>
      <vt:lpstr>Wingdings</vt:lpstr>
      <vt:lpstr>Comic Sans MS</vt:lpstr>
      <vt:lpstr>等线 Light</vt:lpstr>
      <vt:lpstr>等线</vt:lpstr>
      <vt:lpstr>微软雅黑</vt:lpstr>
      <vt:lpstr>Arial Unicode MS</vt:lpstr>
      <vt:lpstr>Calibri</vt:lpstr>
      <vt:lpstr>MS PGothic</vt:lpstr>
      <vt:lpstr>Office 主题​​</vt:lpstr>
      <vt:lpstr>期末项目汇报（Presentation）大纲建议</vt:lpstr>
      <vt:lpstr>1. 项目概况与成员分工 (1-2 min)</vt:lpstr>
      <vt:lpstr>2. 黑盒测试实战 (4-5 min)</vt:lpstr>
      <vt:lpstr>3. 白盒测试与覆盖率分析 (4-5 min)</vt:lpstr>
      <vt:lpstr>Graphs Coverage &amp; Logic Coverage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UFT 自动化功能测试 (2 min)</vt:lpstr>
      <vt:lpstr>5. 总结与 Q&amp;A (3 min)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C.W. Lin</dc:creator>
  <cp:lastModifiedBy>skin天启</cp:lastModifiedBy>
  <cp:revision>5</cp:revision>
  <dcterms:created xsi:type="dcterms:W3CDTF">2026-04-28T01:25:00Z</dcterms:created>
  <dcterms:modified xsi:type="dcterms:W3CDTF">2026-04-29T11:58:20Z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4DDEEA892B6949EAB0CB9CE4699EAAF1_13</vt:lpwstr>
  </property>
</Properties>
</file>