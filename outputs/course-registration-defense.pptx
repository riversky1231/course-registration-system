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812eb404b4204" /><Relationship Type="http://schemas.openxmlformats.org/officeDocument/2006/relationships/extended-properties" Target="/docProps/app.xml" Id="R1da88572a7d746e5" /><Relationship Type="http://schemas.openxmlformats.org/officeDocument/2006/relationships/officeDocument" Target="/ppt/presentation.xml" Id="Re8f744686e1b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64aef880347e5"/>
  </p:sldMasterIdLst>
  <p:notesMasterIdLst>
    <p:notesMasterId xmlns:r="http://schemas.openxmlformats.org/officeDocument/2006/relationships" r:id="Rf9a8c2269c5b456b"/>
  </p:notesMasterIdLst>
  <p:sldIdLst>
    <p:sldId xmlns:r="http://schemas.openxmlformats.org/officeDocument/2006/relationships" id="256" r:id="Rc386884bc1d2481c"/>
    <p:sldId xmlns:r="http://schemas.openxmlformats.org/officeDocument/2006/relationships" id="257" r:id="R825b21173d904f32"/>
    <p:sldId xmlns:r="http://schemas.openxmlformats.org/officeDocument/2006/relationships" id="258" r:id="R16ff2af763d841d3"/>
    <p:sldId xmlns:r="http://schemas.openxmlformats.org/officeDocument/2006/relationships" id="259" r:id="R7a92d87d1765423d"/>
    <p:sldId xmlns:r="http://schemas.openxmlformats.org/officeDocument/2006/relationships" id="260" r:id="R687d29190c1f4831"/>
    <p:sldId xmlns:r="http://schemas.openxmlformats.org/officeDocument/2006/relationships" id="261" r:id="R10d58438895d4a3b"/>
    <p:sldId xmlns:r="http://schemas.openxmlformats.org/officeDocument/2006/relationships" id="262" r:id="R435b3ab2df3c410e"/>
    <p:sldId xmlns:r="http://schemas.openxmlformats.org/officeDocument/2006/relationships" id="263" r:id="R8d812fdb27d747aa"/>
    <p:sldId xmlns:r="http://schemas.openxmlformats.org/officeDocument/2006/relationships" id="264" r:id="Ra990a49b19ff4fa2"/>
    <p:sldId xmlns:r="http://schemas.openxmlformats.org/officeDocument/2006/relationships" id="265" r:id="Raab82abe53d643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3ee36897914b26" /><Relationship Type="http://schemas.openxmlformats.org/officeDocument/2006/relationships/slideMaster" Target="/ppt/slideMasters/slideMaster1.xml" Id="R21564aef880347e5" /><Relationship Type="http://schemas.openxmlformats.org/officeDocument/2006/relationships/notesMaster" Target="/ppt/notesMasters/notesMaster1.xml" Id="Rf9a8c2269c5b456b" /><Relationship Type="http://schemas.openxmlformats.org/officeDocument/2006/relationships/presProps" Target="/ppt/presProps.xml" Id="R101f544ea2ff4e47" /><Relationship Type="http://schemas.openxmlformats.org/officeDocument/2006/relationships/tableStyles" Target="/ppt/tableStyles.xml" Id="R6a87a11b00974ccd" /><Relationship Type="http://schemas.openxmlformats.org/officeDocument/2006/relationships/slide" Target="/ppt/slides/slide1.xml" Id="Rc386884bc1d2481c" /><Relationship Type="http://schemas.openxmlformats.org/officeDocument/2006/relationships/slide" Target="/ppt/slides/slide2.xml" Id="R825b21173d904f32" /><Relationship Type="http://schemas.openxmlformats.org/officeDocument/2006/relationships/slide" Target="/ppt/slides/slide3.xml" Id="R16ff2af763d841d3" /><Relationship Type="http://schemas.openxmlformats.org/officeDocument/2006/relationships/slide" Target="/ppt/slides/slide4.xml" Id="R7a92d87d1765423d" /><Relationship Type="http://schemas.openxmlformats.org/officeDocument/2006/relationships/slide" Target="/ppt/slides/slide5.xml" Id="R687d29190c1f4831" /><Relationship Type="http://schemas.openxmlformats.org/officeDocument/2006/relationships/slide" Target="/ppt/slides/slide6.xml" Id="R10d58438895d4a3b" /><Relationship Type="http://schemas.openxmlformats.org/officeDocument/2006/relationships/slide" Target="/ppt/slides/slide7.xml" Id="R435b3ab2df3c410e" /><Relationship Type="http://schemas.openxmlformats.org/officeDocument/2006/relationships/slide" Target="/ppt/slides/slide8.xml" Id="R8d812fdb27d747aa" /><Relationship Type="http://schemas.openxmlformats.org/officeDocument/2006/relationships/slide" Target="/ppt/slides/slide9.xml" Id="Ra990a49b19ff4fa2" /><Relationship Type="http://schemas.openxmlformats.org/officeDocument/2006/relationships/slide" Target="/ppt/slides/slide10.xml" Id="Raab82abe53d6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7bc81560a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cea99a1e84de0" /><Relationship Type="http://schemas.openxmlformats.org/officeDocument/2006/relationships/notesMaster" Target="/ppt/notesMasters/notesMaster1.xml" Id="R60612145421d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f3ffd0a3f4ab3" /><Relationship Type="http://schemas.openxmlformats.org/officeDocument/2006/relationships/notesMaster" Target="/ppt/notesMasters/notesMaster1.xml" Id="Rac3572b866ed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cdf81bd484f7d" /><Relationship Type="http://schemas.openxmlformats.org/officeDocument/2006/relationships/notesMaster" Target="/ppt/notesMasters/notesMaster1.xml" Id="Rd6fc808ba4ff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fd5c3cf4eb4ff0" /><Relationship Type="http://schemas.openxmlformats.org/officeDocument/2006/relationships/notesMaster" Target="/ppt/notesMasters/notesMaster1.xml" Id="Rd35a112f6c9640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cecf37aac41d9" /><Relationship Type="http://schemas.openxmlformats.org/officeDocument/2006/relationships/notesMaster" Target="/ppt/notesMasters/notesMaster1.xml" Id="R48cba27643b2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0b201a7d947cd" /><Relationship Type="http://schemas.openxmlformats.org/officeDocument/2006/relationships/notesMaster" Target="/ppt/notesMasters/notesMaster1.xml" Id="R564b21b5db0f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f93e48dcf444d1" /><Relationship Type="http://schemas.openxmlformats.org/officeDocument/2006/relationships/notesMaster" Target="/ppt/notesMasters/notesMaster1.xml" Id="R69d88e303d22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c1c2459f884f90" /><Relationship Type="http://schemas.openxmlformats.org/officeDocument/2006/relationships/notesMaster" Target="/ppt/notesMasters/notesMaster1.xml" Id="R59bf7212a37d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6030c65be94acf" /><Relationship Type="http://schemas.openxmlformats.org/officeDocument/2006/relationships/notesMaster" Target="/ppt/notesMasters/notesMaster1.xml" Id="R051eef0469294a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a71bbc7d704358" /><Relationship Type="http://schemas.openxmlformats.org/officeDocument/2006/relationships/notesMaster" Target="/ppt/notesMasters/notesMaster1.xml" Id="R0200062ad9b7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78db80025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1ca5bc4b54692" /><Relationship Type="http://schemas.openxmlformats.org/officeDocument/2006/relationships/slideLayout" Target="/ppt/slideLayouts/slideLayout1.xml" Id="R04c242c02e9445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242c02e9445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6cfa58e84ff4" /><Relationship Type="http://schemas.openxmlformats.org/officeDocument/2006/relationships/notesSlide" Target="/ppt/notesSlides/notesSlide1.xml" Id="Ra79f78e6e52b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25e5ca2814d03" /><Relationship Type="http://schemas.openxmlformats.org/officeDocument/2006/relationships/notesSlide" Target="/ppt/notesSlides/notesSlide2.xml" Id="R478c943630d9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cba488de7452e" /><Relationship Type="http://schemas.openxmlformats.org/officeDocument/2006/relationships/notesSlide" Target="/ppt/notesSlides/notesSlide3.xml" Id="Red9384ca6acd47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f44a552234d2c" /><Relationship Type="http://schemas.openxmlformats.org/officeDocument/2006/relationships/notesSlide" Target="/ppt/notesSlides/notesSlide4.xml" Id="Rf4a1b98a813544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c8f4e4eb4439" /><Relationship Type="http://schemas.openxmlformats.org/officeDocument/2006/relationships/notesSlide" Target="/ppt/notesSlides/notesSlide5.xml" Id="Rc492cf40075f4c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12227855f44b4" /><Relationship Type="http://schemas.openxmlformats.org/officeDocument/2006/relationships/notesSlide" Target="/ppt/notesSlides/notesSlide6.xml" Id="Ra6619ae978dc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f76a2121c4978" /><Relationship Type="http://schemas.openxmlformats.org/officeDocument/2006/relationships/notesSlide" Target="/ppt/notesSlides/notesSlide7.xml" Id="Rd7424dac61fc4a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518f2bfb84529" /><Relationship Type="http://schemas.openxmlformats.org/officeDocument/2006/relationships/notesSlide" Target="/ppt/notesSlides/notesSlide8.xml" Id="Rd5f1f38d790b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144d978c04468" /><Relationship Type="http://schemas.openxmlformats.org/officeDocument/2006/relationships/notesSlide" Target="/ppt/notesSlides/notesSlide9.xml" Id="R45a1e679f23648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4eec2e81b46eb" /><Relationship Type="http://schemas.openxmlformats.org/officeDocument/2006/relationships/notesSlide" Target="/ppt/notesSlides/notesSlide10.xml" Id="Rea7ccd58854e4e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4498C6E5-E8C2-41C0-A5F5-4729BE63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102033"/>
            </a:solidFill>
            <a:prstDash val="solid"/>
          </a:ln>
        </p:spPr>
      </p:sp>
      <p:sp>
        <p:nvSpPr>
          <p:cNvPr id="2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C0668A4F-EB26-4FB0-B65D-BC0532A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492837-6952-4E58-919B-3F7E52F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rPr>
              <a:t>毕业 / 课程设计答辩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4EE23E-0634-42E8-AE12-41C10008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学生选课系统</a:t>
            </a:r>
          </a:p>
        </p:txBody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3E52E1E2-85B5-4A6E-8A62-A588630A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5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D5E5F2"/>
                </a:solidFill>
                <a:latin typeface="Microsoft YaHei"/>
                <a:ea typeface="Microsoft YaHei"/>
                <a:cs typeface="Microsoft YaHei"/>
              </a:rPr>
              <a:t>Course Registration System</a:t>
            </a:r>
          </a:p>
        </p:txBody>
      </p:sp>
      <p:sp>
        <p:nvSpPr>
          <p:cNvPr id="6" name="cover-desc">
            <a:extLst xmlns:a="http://schemas.openxmlformats.org/drawingml/2006/main">
              <a:ext uri="{FF2B5EF4-FFF2-40B4-BE49-F238E27FC236}">
                <a16:creationId xmlns:a16="http://schemas.microsoft.com/office/drawing/2014/main" id="{3275724D-C8E5-44BB-A697-6850FA9D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rPr>
              <a:t>Spring Boot 3 + MyBatis-Plus</a:t>
            </a:r>
          </a:p>
          <a:p xmlns:a="http://schemas.openxmlformats.org/drawingml/2006/main">
            <a:pPr algn="l">
              <a:def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rPr>
              <a:t>MySQL + Vue 3</a:t>
            </a:r>
          </a:p>
          <a:p xmlns:a="http://schemas.openxmlformats.org/drawingml/2006/main">
            <a:pPr algn="l">
              <a:def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rPr>
              <a:t>高校课程管理与智能选课平台</a:t>
            </a:r>
          </a:p>
        </p:txBody>
      </p:sp>
      <p:sp>
        <p:nvSpPr>
          <p:cNvPr id="7" name="cover-focus">
            <a:extLst xmlns:a="http://schemas.openxmlformats.org/drawingml/2006/main">
              <a:ext uri="{FF2B5EF4-FFF2-40B4-BE49-F238E27FC236}">
                <a16:creationId xmlns:a16="http://schemas.microsoft.com/office/drawing/2014/main" id="{F9DF63AD-0BEF-49AD-B67D-256F4D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D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9CDDD"/>
                </a:solidFill>
                <a:latin typeface="Microsoft YaHei"/>
                <a:ea typeface="Microsoft YaHei"/>
                <a:cs typeface="Microsoft YaHei"/>
              </a:rPr>
              <a:t>答辩重点：角色权限 · 数据库设计 · 八重智能校验 · 并发控制</a:t>
            </a:r>
          </a:p>
        </p:txBody>
      </p:sp>
      <p:sp>
        <p:nvSpPr>
          <p:cNvPr id="8" name="cover-year">
            <a:extLst xmlns:a="http://schemas.openxmlformats.org/drawingml/2006/main">
              <a:ext uri="{FF2B5EF4-FFF2-40B4-BE49-F238E27FC236}">
                <a16:creationId xmlns:a16="http://schemas.microsoft.com/office/drawing/2014/main" id="{C0E5F2A8-183D-4D4B-A552-A3F83F59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9" name="cover-right-title">
            <a:extLst xmlns:a="http://schemas.openxmlformats.org/drawingml/2006/main">
              <a:ext uri="{FF2B5EF4-FFF2-40B4-BE49-F238E27FC236}">
                <a16:creationId xmlns:a16="http://schemas.microsoft.com/office/drawing/2014/main" id="{522699E2-65AF-48D0-844C-1B2BBDF7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14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系统核心闭环</a:t>
            </a:r>
          </a:p>
        </p:txBody>
      </p:sp>
      <p:sp>
        <p:nvSpPr>
          <p:cNvPr id="10" name="cover-right-sub">
            <a:extLst xmlns:a="http://schemas.openxmlformats.org/drawingml/2006/main">
              <a:ext uri="{FF2B5EF4-FFF2-40B4-BE49-F238E27FC236}">
                <a16:creationId xmlns:a16="http://schemas.microsoft.com/office/drawing/2014/main" id="{4F7D3159-3799-427B-899E-032FBED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525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从登录身份到选课规则，再到成绩与 GPA 反馈。</a:t>
            </a:r>
          </a:p>
        </p:txBody>
      </p:sp>
      <p:sp>
        <p:nvSpPr>
          <p:cNvPr id="11" name="cover-flow-0">
            <a:extLst xmlns:a="http://schemas.openxmlformats.org/drawingml/2006/main">
              <a:ext uri="{FF2B5EF4-FFF2-40B4-BE49-F238E27FC236}">
                <a16:creationId xmlns:a16="http://schemas.microsoft.com/office/drawing/2014/main" id="{EE38B56A-3D5F-4CC4-9A78-37F4F713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443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over-flow-mark-0">
            <a:extLst xmlns:a="http://schemas.openxmlformats.org/drawingml/2006/main">
              <a:ext uri="{FF2B5EF4-FFF2-40B4-BE49-F238E27FC236}">
                <a16:creationId xmlns:a16="http://schemas.microsoft.com/office/drawing/2014/main" id="{FB46A631-7C4E-4CAF-A66A-71AC35D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3" name="cover-flow-no-0">
            <a:extLst xmlns:a="http://schemas.openxmlformats.org/drawingml/2006/main">
              <a:ext uri="{FF2B5EF4-FFF2-40B4-BE49-F238E27FC236}">
                <a16:creationId xmlns:a16="http://schemas.microsoft.com/office/drawing/2014/main" id="{788E0111-6A65-4B5B-80EF-977E848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cover-flow-title-0">
            <a:extLst xmlns:a="http://schemas.openxmlformats.org/drawingml/2006/main">
              <a:ext uri="{FF2B5EF4-FFF2-40B4-BE49-F238E27FC236}">
                <a16:creationId xmlns:a16="http://schemas.microsoft.com/office/drawing/2014/main" id="{73FF7F7E-AAAE-4BC1-8B9D-CA7B6DF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193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身份登录</a:t>
            </a:r>
          </a:p>
        </p:txBody>
      </p:sp>
      <p:sp>
        <p:nvSpPr>
          <p:cNvPr id="15" name="cover-flow-body-0">
            <a:extLst xmlns:a="http://schemas.openxmlformats.org/drawingml/2006/main">
              <a:ext uri="{FF2B5EF4-FFF2-40B4-BE49-F238E27FC236}">
                <a16:creationId xmlns:a16="http://schemas.microsoft.com/office/drawing/2014/main" id="{2B4B46AC-8721-46A7-8137-81EB983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管理员 / 教师 / 学生</a:t>
            </a:r>
          </a:p>
        </p:txBody>
      </p:sp>
      <p:sp>
        <p:nvSpPr>
          <p:cNvPr id="16" name="cover-flow-arrow-0">
            <a:extLst xmlns:a="http://schemas.openxmlformats.org/drawingml/2006/main">
              <a:ext uri="{FF2B5EF4-FFF2-40B4-BE49-F238E27FC236}">
                <a16:creationId xmlns:a16="http://schemas.microsoft.com/office/drawing/2014/main" id="{218800DE-1096-4C29-A0DB-F30D632A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cover-flow-1">
            <a:extLst xmlns:a="http://schemas.openxmlformats.org/drawingml/2006/main">
              <a:ext uri="{FF2B5EF4-FFF2-40B4-BE49-F238E27FC236}">
                <a16:creationId xmlns:a16="http://schemas.microsoft.com/office/drawing/2014/main" id="{5CE9211C-E284-4A64-A399-0A5C4EDD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443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over-flow-mark-1">
            <a:extLst xmlns:a="http://schemas.openxmlformats.org/drawingml/2006/main">
              <a:ext uri="{FF2B5EF4-FFF2-40B4-BE49-F238E27FC236}">
                <a16:creationId xmlns:a16="http://schemas.microsoft.com/office/drawing/2014/main" id="{DD5CEC1D-3426-4B21-AF17-B1488CC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9" name="cover-flow-no-1">
            <a:extLst xmlns:a="http://schemas.openxmlformats.org/drawingml/2006/main">
              <a:ext uri="{FF2B5EF4-FFF2-40B4-BE49-F238E27FC236}">
                <a16:creationId xmlns:a16="http://schemas.microsoft.com/office/drawing/2014/main" id="{E95FF4D6-43D8-421A-A6D3-8246789F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cover-flow-title-1">
            <a:extLst xmlns:a="http://schemas.openxmlformats.org/drawingml/2006/main">
              <a:ext uri="{FF2B5EF4-FFF2-40B4-BE49-F238E27FC236}">
                <a16:creationId xmlns:a16="http://schemas.microsoft.com/office/drawing/2014/main" id="{60C525B7-6F7D-48E5-9EBA-EEC3CE48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95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课程与窗口</a:t>
            </a:r>
          </a:p>
        </p:txBody>
      </p:sp>
      <p:sp>
        <p:nvSpPr>
          <p:cNvPr id="21" name="cover-flow-body-1">
            <a:extLst xmlns:a="http://schemas.openxmlformats.org/drawingml/2006/main">
              <a:ext uri="{FF2B5EF4-FFF2-40B4-BE49-F238E27FC236}">
                <a16:creationId xmlns:a16="http://schemas.microsoft.com/office/drawing/2014/main" id="{B3E4CDB0-D50A-48DF-A246-1C27CAD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528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课程容量、时间窗口、基础数据</a:t>
            </a:r>
          </a:p>
        </p:txBody>
      </p:sp>
      <p:sp>
        <p:nvSpPr>
          <p:cNvPr id="22" name="cover-flow-arrow-1">
            <a:extLst xmlns:a="http://schemas.openxmlformats.org/drawingml/2006/main">
              <a:ext uri="{FF2B5EF4-FFF2-40B4-BE49-F238E27FC236}">
                <a16:creationId xmlns:a16="http://schemas.microsoft.com/office/drawing/2014/main" id="{A6BD10CA-326B-4329-944A-85F49D9E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3" name="cover-flow-2">
            <a:extLst xmlns:a="http://schemas.openxmlformats.org/drawingml/2006/main">
              <a:ext uri="{FF2B5EF4-FFF2-40B4-BE49-F238E27FC236}">
                <a16:creationId xmlns:a16="http://schemas.microsoft.com/office/drawing/2014/main" id="{CA23F07D-D4BF-4975-8230-376C5F6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48100"/>
            <a:ext cx="443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over-flow-mark-2">
            <a:extLst xmlns:a="http://schemas.openxmlformats.org/drawingml/2006/main">
              <a:ext uri="{FF2B5EF4-FFF2-40B4-BE49-F238E27FC236}">
                <a16:creationId xmlns:a16="http://schemas.microsoft.com/office/drawing/2014/main" id="{C816A301-453E-422C-86AD-1BD73837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481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5" name="cover-flow-no-2">
            <a:extLst xmlns:a="http://schemas.openxmlformats.org/drawingml/2006/main">
              <a:ext uri="{FF2B5EF4-FFF2-40B4-BE49-F238E27FC236}">
                <a16:creationId xmlns:a16="http://schemas.microsoft.com/office/drawing/2014/main" id="{4BC9313C-8EF1-4EA4-A96E-7A179D9E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cover-flow-title-2">
            <a:extLst xmlns:a="http://schemas.openxmlformats.org/drawingml/2006/main">
              <a:ext uri="{FF2B5EF4-FFF2-40B4-BE49-F238E27FC236}">
                <a16:creationId xmlns:a16="http://schemas.microsoft.com/office/drawing/2014/main" id="{08AEDD4D-18EB-4BAD-AEAC-5E91AD65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71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智能校验</a:t>
            </a:r>
          </a:p>
        </p:txBody>
      </p:sp>
      <p:sp>
        <p:nvSpPr>
          <p:cNvPr id="27" name="cover-flow-body-2">
            <a:extLst xmlns:a="http://schemas.openxmlformats.org/drawingml/2006/main">
              <a:ext uri="{FF2B5EF4-FFF2-40B4-BE49-F238E27FC236}">
                <a16:creationId xmlns:a16="http://schemas.microsoft.com/office/drawing/2014/main" id="{95B652E5-477A-4C4F-A23C-C32CF53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29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重复、容量、冲突、先修、互斥、学分</a:t>
            </a:r>
          </a:p>
        </p:txBody>
      </p:sp>
      <p:sp>
        <p:nvSpPr>
          <p:cNvPr id="28" name="cover-flow-arrow-2">
            <a:extLst xmlns:a="http://schemas.openxmlformats.org/drawingml/2006/main">
              <a:ext uri="{FF2B5EF4-FFF2-40B4-BE49-F238E27FC236}">
                <a16:creationId xmlns:a16="http://schemas.microsoft.com/office/drawing/2014/main" id="{9E640A0C-9D97-4A73-9981-AB59893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95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9" name="cover-flow-3">
            <a:extLst xmlns:a="http://schemas.openxmlformats.org/drawingml/2006/main">
              <a:ext uri="{FF2B5EF4-FFF2-40B4-BE49-F238E27FC236}">
                <a16:creationId xmlns:a16="http://schemas.microsoft.com/office/drawing/2014/main" id="{DF0D0A14-C730-4E69-9130-CFCD9933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4400"/>
            <a:ext cx="443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cover-flow-mark-3">
            <a:extLst xmlns:a="http://schemas.openxmlformats.org/drawingml/2006/main">
              <a:ext uri="{FF2B5EF4-FFF2-40B4-BE49-F238E27FC236}">
                <a16:creationId xmlns:a16="http://schemas.microsoft.com/office/drawing/2014/main" id="{332A9028-537E-4480-9634-EF9CA754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44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9D63"/>
          </a:solidFill>
          <a:ln xmlns:a="http://schemas.openxmlformats.org/drawingml/2006/main" w="0">
            <a:solidFill>
              <a:srgbClr val="3F9D63"/>
            </a:solidFill>
            <a:prstDash val="solid"/>
          </a:ln>
        </p:spPr>
      </p:sp>
      <p:sp>
        <p:nvSpPr>
          <p:cNvPr id="31" name="cover-flow-no-3">
            <a:extLst xmlns:a="http://schemas.openxmlformats.org/drawingml/2006/main">
              <a:ext uri="{FF2B5EF4-FFF2-40B4-BE49-F238E27FC236}">
                <a16:creationId xmlns:a16="http://schemas.microsoft.com/office/drawing/2014/main" id="{EEA5DF01-86BF-4547-8E2E-F591BB0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cover-flow-title-3">
            <a:extLst xmlns:a="http://schemas.openxmlformats.org/drawingml/2006/main">
              <a:ext uri="{FF2B5EF4-FFF2-40B4-BE49-F238E27FC236}">
                <a16:creationId xmlns:a16="http://schemas.microsoft.com/office/drawing/2014/main" id="{D214622F-F689-4E26-AFCE-4FBF3A2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48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成绩反馈</a:t>
            </a:r>
          </a:p>
        </p:txBody>
      </p:sp>
      <p:sp>
        <p:nvSpPr>
          <p:cNvPr id="33" name="cover-flow-body-3">
            <a:extLst xmlns:a="http://schemas.openxmlformats.org/drawingml/2006/main">
              <a:ext uri="{FF2B5EF4-FFF2-40B4-BE49-F238E27FC236}">
                <a16:creationId xmlns:a16="http://schemas.microsoft.com/office/drawing/2014/main" id="{D54C3A82-CC5F-4609-97DA-F94B6284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054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成绩录入、GPA、学业统计</a:t>
            </a:r>
          </a:p>
        </p:txBody>
      </p:sp>
      <p:sp>
        <p:nvSpPr>
          <p:cNvPr id="34" name="cover-bottom-note">
            <a:extLst xmlns:a="http://schemas.openxmlformats.org/drawingml/2006/main">
              <a:ext uri="{FF2B5EF4-FFF2-40B4-BE49-F238E27FC236}">
                <a16:creationId xmlns:a16="http://schemas.microsoft.com/office/drawing/2014/main" id="{CD26B9E1-25E8-4E3B-89D7-86C20A42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62650"/>
            <a:ext cx="4438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CED"/>
            </a:solidFill>
            <a:prstDash val="solid"/>
          </a:ln>
        </p:spPr>
      </p:sp>
      <p:sp>
        <p:nvSpPr>
          <p:cNvPr id="35" name="cover-bottom-note-text">
            <a:extLst xmlns:a="http://schemas.openxmlformats.org/drawingml/2006/main">
              <a:ext uri="{FF2B5EF4-FFF2-40B4-BE49-F238E27FC236}">
                <a16:creationId xmlns:a16="http://schemas.microsoft.com/office/drawing/2014/main" id="{AB6D522D-A56A-44DF-9830-A7CFB990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864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前后端一体部署 · 规则可配置 · 事务保证一致性</a:t>
            </a:r>
          </a:p>
        </p:txBody>
      </p:sp>
    </p:spTree>
    <p:extLst>
      <p:ext uri="{BB962C8B-B14F-4D97-AF65-F5344CB8AC3E}">
        <p14:creationId xmlns:p14="http://schemas.microsoft.com/office/powerpoint/2010/main" val="1750324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8D007AEE-0A94-44DC-A633-171B18A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01 项目概述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F7F1B0CF-1CCB-4619-BA3E-A6215AA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面向高校选课场景的一体化管理系统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A50D3F40-1030-4FC4-8904-52C6557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系统围绕管理员、教师、学生三类用户，完成课程维护、选退课、成绩录入与学业统计。</a:t>
            </a:r>
          </a:p>
        </p:txBody>
      </p:sp>
      <p:sp>
        <p:nvSpPr>
          <p:cNvPr id="4" name="goal1-box">
            <a:extLst xmlns:a="http://schemas.openxmlformats.org/drawingml/2006/main">
              <a:ext uri="{FF2B5EF4-FFF2-40B4-BE49-F238E27FC236}">
                <a16:creationId xmlns:a16="http://schemas.microsoft.com/office/drawing/2014/main" id="{257838F3-2335-4CDE-AE72-8B1C1C6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2861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goal1-bar">
            <a:extLst xmlns:a="http://schemas.openxmlformats.org/drawingml/2006/main">
              <a:ext uri="{FF2B5EF4-FFF2-40B4-BE49-F238E27FC236}">
                <a16:creationId xmlns:a16="http://schemas.microsoft.com/office/drawing/2014/main" id="{ACC5E957-8E77-4437-87B4-01F6B9C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6" name="goal1-title">
            <a:extLst xmlns:a="http://schemas.openxmlformats.org/drawingml/2006/main">
              <a:ext uri="{FF2B5EF4-FFF2-40B4-BE49-F238E27FC236}">
                <a16:creationId xmlns:a16="http://schemas.microsoft.com/office/drawing/2014/main" id="{50100172-E0B0-44FB-8AB3-C6F9DDD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7" name="goal1-body">
            <a:extLst xmlns:a="http://schemas.openxmlformats.org/drawingml/2006/main">
              <a:ext uri="{FF2B5EF4-FFF2-40B4-BE49-F238E27FC236}">
                <a16:creationId xmlns:a16="http://schemas.microsoft.com/office/drawing/2014/main" id="{04F22EE8-4159-48DC-9A16-94211E8C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8289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把课程、学生、教师、选课记录集中管理，减少人工维护与信息割裂。</a:t>
            </a:r>
          </a:p>
        </p:txBody>
      </p:sp>
      <p:sp>
        <p:nvSpPr>
          <p:cNvPr id="8" name="goal2-box">
            <a:extLst xmlns:a="http://schemas.openxmlformats.org/drawingml/2006/main">
              <a:ext uri="{FF2B5EF4-FFF2-40B4-BE49-F238E27FC236}">
                <a16:creationId xmlns:a16="http://schemas.microsoft.com/office/drawing/2014/main" id="{9F01014C-B631-45E0-85E6-CF8F217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57400"/>
            <a:ext cx="32861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goal2-bar">
            <a:extLst xmlns:a="http://schemas.openxmlformats.org/drawingml/2006/main">
              <a:ext uri="{FF2B5EF4-FFF2-40B4-BE49-F238E27FC236}">
                <a16:creationId xmlns:a16="http://schemas.microsoft.com/office/drawing/2014/main" id="{5C4DF8D8-09FD-4847-BA9E-C01569D6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57400"/>
            <a:ext cx="5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0" name="goal2-title">
            <a:extLst xmlns:a="http://schemas.openxmlformats.org/drawingml/2006/main">
              <a:ext uri="{FF2B5EF4-FFF2-40B4-BE49-F238E27FC236}">
                <a16:creationId xmlns:a16="http://schemas.microsoft.com/office/drawing/2014/main" id="{57AD97E2-0716-46E6-BEFE-38FC471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11" name="goal2-body">
            <a:extLst xmlns:a="http://schemas.openxmlformats.org/drawingml/2006/main">
              <a:ext uri="{FF2B5EF4-FFF2-40B4-BE49-F238E27FC236}">
                <a16:creationId xmlns:a16="http://schemas.microsoft.com/office/drawing/2014/main" id="{C5A2C36C-6254-4A48-9185-A236864E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289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选课不是简单新增记录，需要同时处理容量、时间、先修、互斥、学分上限等约束。</a:t>
            </a:r>
          </a:p>
        </p:txBody>
      </p:sp>
      <p:sp>
        <p:nvSpPr>
          <p:cNvPr id="12" name="goal3-box">
            <a:extLst xmlns:a="http://schemas.openxmlformats.org/drawingml/2006/main">
              <a:ext uri="{FF2B5EF4-FFF2-40B4-BE49-F238E27FC236}">
                <a16:creationId xmlns:a16="http://schemas.microsoft.com/office/drawing/2014/main" id="{1C58DC2E-FFED-47D0-8F0A-3D919D3B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2861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goal3-bar">
            <a:extLst xmlns:a="http://schemas.openxmlformats.org/drawingml/2006/main">
              <a:ext uri="{FF2B5EF4-FFF2-40B4-BE49-F238E27FC236}">
                <a16:creationId xmlns:a16="http://schemas.microsoft.com/office/drawing/2014/main" id="{2C13FA35-8475-4874-A564-5BA979D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5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4" name="goal3-title">
            <a:extLst xmlns:a="http://schemas.openxmlformats.org/drawingml/2006/main">
              <a:ext uri="{FF2B5EF4-FFF2-40B4-BE49-F238E27FC236}">
                <a16:creationId xmlns:a16="http://schemas.microsoft.com/office/drawing/2014/main" id="{0857B687-E96A-40BD-991F-E94242C7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实现结果</a:t>
            </a:r>
          </a:p>
        </p:txBody>
      </p:sp>
      <p:sp>
        <p:nvSpPr>
          <p:cNvPr id="15" name="goal3-body">
            <a:extLst xmlns:a="http://schemas.openxmlformats.org/drawingml/2006/main">
              <a:ext uri="{FF2B5EF4-FFF2-40B4-BE49-F238E27FC236}">
                <a16:creationId xmlns:a16="http://schemas.microsoft.com/office/drawing/2014/main" id="{10D7CC42-B486-42F9-94F8-B9C299A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8289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提供 Web 端操作界面、统一 REST API、手工数据库初始化脚本与演示数据。</a:t>
            </a:r>
          </a:p>
        </p:txBody>
      </p:sp>
      <p:sp>
        <p:nvSpPr>
          <p:cNvPr id="16" name="metric-band">
            <a:extLst xmlns:a="http://schemas.openxmlformats.org/drawingml/2006/main">
              <a:ext uri="{FF2B5EF4-FFF2-40B4-BE49-F238E27FC236}">
                <a16:creationId xmlns:a16="http://schemas.microsoft.com/office/drawing/2014/main" id="{F1900994-9D39-4A84-BE78-DFE5147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0058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metric-num-0">
            <a:extLst xmlns:a="http://schemas.openxmlformats.org/drawingml/2006/main">
              <a:ext uri="{FF2B5EF4-FFF2-40B4-BE49-F238E27FC236}">
                <a16:creationId xmlns:a16="http://schemas.microsoft.com/office/drawing/2014/main" id="{AE094427-3628-4229-A01D-14AA096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946E1948-3EC2-434C-841E-431E60F9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用户角色</a:t>
            </a:r>
          </a:p>
        </p:txBody>
      </p:sp>
      <p:sp>
        <p:nvSpPr>
          <p:cNvPr id="19" name="metric-num-1">
            <a:extLst xmlns:a="http://schemas.openxmlformats.org/drawingml/2006/main">
              <a:ext uri="{FF2B5EF4-FFF2-40B4-BE49-F238E27FC236}">
                <a16:creationId xmlns:a16="http://schemas.microsoft.com/office/drawing/2014/main" id="{F3D0CD43-0928-433B-879D-0FB01A1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10+</a:t>
            </a:r>
          </a:p>
        </p:txBody>
      </p:sp>
      <p:sp>
        <p:nvSpPr>
          <p:cNvPr id="2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4FE0C6DD-FB9D-4C24-9A03-6ABFC2D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核心数据表</a:t>
            </a:r>
          </a:p>
        </p:txBody>
      </p:sp>
      <p:sp>
        <p:nvSpPr>
          <p:cNvPr id="21" name="metric-num-2">
            <a:extLst xmlns:a="http://schemas.openxmlformats.org/drawingml/2006/main">
              <a:ext uri="{FF2B5EF4-FFF2-40B4-BE49-F238E27FC236}">
                <a16:creationId xmlns:a16="http://schemas.microsoft.com/office/drawing/2014/main" id="{86046F5E-87F6-41FC-978C-ACA1F2FA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053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C1B33D8-823E-4A59-A538-B55884E1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43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选课校验层</a:t>
            </a:r>
          </a:p>
        </p:txBody>
      </p:sp>
      <p:sp>
        <p:nvSpPr>
          <p:cNvPr id="23" name="metric-num-3">
            <a:extLst xmlns:a="http://schemas.openxmlformats.org/drawingml/2006/main">
              <a:ext uri="{FF2B5EF4-FFF2-40B4-BE49-F238E27FC236}">
                <a16:creationId xmlns:a16="http://schemas.microsoft.com/office/drawing/2014/main" id="{78C27366-88F9-4937-8950-001833A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12h</a:t>
            </a:r>
          </a:p>
        </p:txBody>
      </p:sp>
      <p:sp>
        <p:nvSpPr>
          <p:cNvPr id="24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A9BE04F-4C6B-48C6-B387-7C9EB89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会话超时</a:t>
            </a:r>
          </a:p>
        </p:txBody>
      </p:sp>
      <p:sp>
        <p:nvSpPr>
          <p:cNvPr id="25" name="metric-num-4">
            <a:extLst xmlns:a="http://schemas.openxmlformats.org/drawingml/2006/main">
              <a:ext uri="{FF2B5EF4-FFF2-40B4-BE49-F238E27FC236}">
                <a16:creationId xmlns:a16="http://schemas.microsoft.com/office/drawing/2014/main" id="{F5FEE2D1-5988-4B52-AD8E-F7042D7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053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26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66E4CFD8-FE82-411E-BE13-8F9398BF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43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演示学生</a:t>
            </a:r>
          </a:p>
        </p:txBody>
      </p:sp>
      <p:sp>
        <p:nvSpPr>
          <p:cNvPr id="27" name="footer-2">
            <a:extLst xmlns:a="http://schemas.openxmlformats.org/drawingml/2006/main">
              <a:ext uri="{FF2B5EF4-FFF2-40B4-BE49-F238E27FC236}">
                <a16:creationId xmlns:a16="http://schemas.microsoft.com/office/drawing/2014/main" id="{428D174C-F1C4-431E-AC41-CBE758A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资料来源：README、CLAUDE、数据库表结构说明、pom.xml</a:t>
            </a:r>
          </a:p>
        </p:txBody>
      </p:sp>
      <p:sp>
        <p:nvSpPr>
          <p:cNvPr id="28" name="page-2">
            <a:extLst xmlns:a="http://schemas.openxmlformats.org/drawingml/2006/main">
              <a:ext uri="{FF2B5EF4-FFF2-40B4-BE49-F238E27FC236}">
                <a16:creationId xmlns:a16="http://schemas.microsoft.com/office/drawing/2014/main" id="{DB03F5C4-F880-4722-8948-23CEC900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368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BF01546E-712A-43DA-91E5-4C734D0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02 技术栈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57E3A37E-BD8D-4660-8787-4FFC146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前后端一体交付，后端承载核心业务规则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4DCE5C5-5229-400F-8CD1-91CF7634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项目使用 Java 17、Spring Boot、MyBatis-Plus 与 MySQL，前端 Vue 静态资源随应用一起发布。</a:t>
            </a:r>
          </a:p>
        </p:txBody>
      </p:sp>
      <p:sp>
        <p:nvSpPr>
          <p:cNvPr id="4" name="stack-0">
            <a:extLst xmlns:a="http://schemas.openxmlformats.org/drawingml/2006/main">
              <a:ext uri="{FF2B5EF4-FFF2-40B4-BE49-F238E27FC236}">
                <a16:creationId xmlns:a16="http://schemas.microsoft.com/office/drawing/2014/main" id="{8E7A6B9F-C8DC-437F-A43A-5C9A57C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AD4DF"/>
            </a:solidFill>
            <a:prstDash val="solid"/>
          </a:ln>
        </p:spPr>
      </p:sp>
      <p:sp>
        <p:nvSpPr>
          <p:cNvPr id="5" name="stack-title-0">
            <a:extLst xmlns:a="http://schemas.openxmlformats.org/drawingml/2006/main">
              <a:ext uri="{FF2B5EF4-FFF2-40B4-BE49-F238E27FC236}">
                <a16:creationId xmlns:a16="http://schemas.microsoft.com/office/drawing/2014/main" id="{F90F9782-2004-4AC5-9DD6-CD01C8F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8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前端层</a:t>
            </a:r>
          </a:p>
        </p:txBody>
      </p:sp>
      <p:sp>
        <p:nvSpPr>
          <p:cNvPr id="6" name="stack-body-0">
            <a:extLst xmlns:a="http://schemas.openxmlformats.org/drawingml/2006/main">
              <a:ext uri="{FF2B5EF4-FFF2-40B4-BE49-F238E27FC236}">
                <a16:creationId xmlns:a16="http://schemas.microsoft.com/office/drawing/2014/main" id="{FBE1C80E-3165-4BD4-8752-D3A4133D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335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Vue 3 / Element Plus / axios</a:t>
            </a:r>
          </a:p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本地静态资源集成，无需前端构建服务</a:t>
            </a:r>
          </a:p>
        </p:txBody>
      </p:sp>
      <p:sp>
        <p:nvSpPr>
          <p:cNvPr id="7" name="stack-arrow-0">
            <a:extLst xmlns:a="http://schemas.openxmlformats.org/drawingml/2006/main">
              <a:ext uri="{FF2B5EF4-FFF2-40B4-BE49-F238E27FC236}">
                <a16:creationId xmlns:a16="http://schemas.microsoft.com/office/drawing/2014/main" id="{8E8AC080-671B-407C-8E08-9B2FAAA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" name="stack-1">
            <a:extLst xmlns:a="http://schemas.openxmlformats.org/drawingml/2006/main">
              <a:ext uri="{FF2B5EF4-FFF2-40B4-BE49-F238E27FC236}">
                <a16:creationId xmlns:a16="http://schemas.microsoft.com/office/drawing/2014/main" id="{4625B7B6-8558-4512-AAB6-FE3A2CA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CAD4DF"/>
            </a:solidFill>
            <a:prstDash val="solid"/>
          </a:ln>
        </p:spPr>
      </p:sp>
      <p:sp>
        <p:nvSpPr>
          <p:cNvPr id="9" name="stack-title-1">
            <a:extLst xmlns:a="http://schemas.openxmlformats.org/drawingml/2006/main">
              <a:ext uri="{FF2B5EF4-FFF2-40B4-BE49-F238E27FC236}">
                <a16:creationId xmlns:a16="http://schemas.microsoft.com/office/drawing/2014/main" id="{A0CE393D-89A9-4535-BE5C-2ADF335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接口层</a:t>
            </a:r>
          </a:p>
        </p:txBody>
      </p:sp>
      <p:sp>
        <p:nvSpPr>
          <p:cNvPr id="10" name="stack-body-1">
            <a:extLst xmlns:a="http://schemas.openxmlformats.org/drawingml/2006/main">
              <a:ext uri="{FF2B5EF4-FFF2-40B4-BE49-F238E27FC236}">
                <a16:creationId xmlns:a16="http://schemas.microsoft.com/office/drawing/2014/main" id="{1642E3BC-F2CB-4CD5-AC45-3C3E94DD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Spring MVC Controller</a:t>
            </a:r>
          </a:p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统一 /api/* REST 接口与 ApiResponse 返回结构</a:t>
            </a:r>
          </a:p>
        </p:txBody>
      </p:sp>
      <p:sp>
        <p:nvSpPr>
          <p:cNvPr id="11" name="stack-arrow-1">
            <a:extLst xmlns:a="http://schemas.openxmlformats.org/drawingml/2006/main">
              <a:ext uri="{FF2B5EF4-FFF2-40B4-BE49-F238E27FC236}">
                <a16:creationId xmlns:a16="http://schemas.microsoft.com/office/drawing/2014/main" id="{0FD6F758-3DE7-4289-8B0C-6096CB2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2" name="stack-2">
            <a:extLst xmlns:a="http://schemas.openxmlformats.org/drawingml/2006/main">
              <a:ext uri="{FF2B5EF4-FFF2-40B4-BE49-F238E27FC236}">
                <a16:creationId xmlns:a16="http://schemas.microsoft.com/office/drawing/2014/main" id="{4B53AE6D-2E0C-4234-BCC6-01F991B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AD4DF"/>
            </a:solidFill>
            <a:prstDash val="solid"/>
          </a:ln>
        </p:spPr>
      </p:sp>
      <p:sp>
        <p:nvSpPr>
          <p:cNvPr id="13" name="stack-title-2">
            <a:extLst xmlns:a="http://schemas.openxmlformats.org/drawingml/2006/main">
              <a:ext uri="{FF2B5EF4-FFF2-40B4-BE49-F238E27FC236}">
                <a16:creationId xmlns:a16="http://schemas.microsoft.com/office/drawing/2014/main" id="{30FB41D7-3A7C-4E03-87AB-DAEB684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43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4" name="stack-body-2">
            <a:extLst xmlns:a="http://schemas.openxmlformats.org/drawingml/2006/main">
              <a:ext uri="{FF2B5EF4-FFF2-40B4-BE49-F238E27FC236}">
                <a16:creationId xmlns:a16="http://schemas.microsoft.com/office/drawing/2014/main" id="{2CA7F04B-E1A2-4566-A487-234CE5F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95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Service + 事务控制</a:t>
            </a:r>
          </a:p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选课窗口、权限、八重校验、GPA 计算</a:t>
            </a:r>
          </a:p>
        </p:txBody>
      </p:sp>
      <p:sp>
        <p:nvSpPr>
          <p:cNvPr id="15" name="stack-arrow-2">
            <a:extLst xmlns:a="http://schemas.openxmlformats.org/drawingml/2006/main">
              <a:ext uri="{FF2B5EF4-FFF2-40B4-BE49-F238E27FC236}">
                <a16:creationId xmlns:a16="http://schemas.microsoft.com/office/drawing/2014/main" id="{74AFCEF0-F30D-4D86-AE5A-77A424F9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stack-3">
            <a:extLst xmlns:a="http://schemas.openxmlformats.org/drawingml/2006/main">
              <a:ext uri="{FF2B5EF4-FFF2-40B4-BE49-F238E27FC236}">
                <a16:creationId xmlns:a16="http://schemas.microsoft.com/office/drawing/2014/main" id="{2BF8BAC3-68F9-4C13-BF76-50226D9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5F2"/>
          </a:solidFill>
          <a:ln xmlns:a="http://schemas.openxmlformats.org/drawingml/2006/main" w="9525">
            <a:solidFill>
              <a:srgbClr val="CAD4DF"/>
            </a:solidFill>
            <a:prstDash val="solid"/>
          </a:ln>
        </p:spPr>
      </p:sp>
      <p:sp>
        <p:nvSpPr>
          <p:cNvPr id="17" name="stack-title-3">
            <a:extLst xmlns:a="http://schemas.openxmlformats.org/drawingml/2006/main">
              <a:ext uri="{FF2B5EF4-FFF2-40B4-BE49-F238E27FC236}">
                <a16:creationId xmlns:a16="http://schemas.microsoft.com/office/drawing/2014/main" id="{F5D365EE-352E-4471-9FFE-1DB5DF6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24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8" name="stack-body-3">
            <a:extLst xmlns:a="http://schemas.openxmlformats.org/drawingml/2006/main">
              <a:ext uri="{FF2B5EF4-FFF2-40B4-BE49-F238E27FC236}">
                <a16:creationId xmlns:a16="http://schemas.microsoft.com/office/drawing/2014/main" id="{CE4BB6CC-462D-477B-8F5A-6974C96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767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MyBatis-Plus Mapper</a:t>
            </a:r>
          </a:p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JOIN 查询、索引、悲观锁 SELECT FOR UPDATE</a:t>
            </a:r>
          </a:p>
        </p:txBody>
      </p:sp>
      <p:sp>
        <p:nvSpPr>
          <p:cNvPr id="19" name="stack-arrow-3">
            <a:extLst xmlns:a="http://schemas.openxmlformats.org/drawingml/2006/main">
              <a:ext uri="{FF2B5EF4-FFF2-40B4-BE49-F238E27FC236}">
                <a16:creationId xmlns:a16="http://schemas.microsoft.com/office/drawing/2014/main" id="{5280810C-682B-402A-94CD-C3FC56A4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0" name="stack-4">
            <a:extLst xmlns:a="http://schemas.openxmlformats.org/drawingml/2006/main">
              <a:ext uri="{FF2B5EF4-FFF2-40B4-BE49-F238E27FC236}">
                <a16:creationId xmlns:a16="http://schemas.microsoft.com/office/drawing/2014/main" id="{AD3C3AF9-AEA0-4A42-89DA-AD70CF4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CAD4DF"/>
            </a:solidFill>
            <a:prstDash val="solid"/>
          </a:ln>
        </p:spPr>
      </p:sp>
      <p:sp>
        <p:nvSpPr>
          <p:cNvPr id="21" name="stack-title-4">
            <a:extLst xmlns:a="http://schemas.openxmlformats.org/drawingml/2006/main">
              <a:ext uri="{FF2B5EF4-FFF2-40B4-BE49-F238E27FC236}">
                <a16:creationId xmlns:a16="http://schemas.microsoft.com/office/drawing/2014/main" id="{31923516-C6B1-43D1-8F7C-E44F70C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05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存储层</a:t>
            </a:r>
          </a:p>
        </p:txBody>
      </p:sp>
      <p:sp>
        <p:nvSpPr>
          <p:cNvPr id="22" name="stack-body-4">
            <a:extLst xmlns:a="http://schemas.openxmlformats.org/drawingml/2006/main">
              <a:ext uri="{FF2B5EF4-FFF2-40B4-BE49-F238E27FC236}">
                <a16:creationId xmlns:a16="http://schemas.microsoft.com/office/drawing/2014/main" id="{E8236F33-F20F-487E-8D2D-38D8EE5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577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MySQL 8.x</a:t>
            </a:r>
          </a:p>
          <a:p xmlns:a="http://schemas.openxmlformats.org/drawingml/2006/main">
            <a:pPr algn="l">
              <a:def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一体化 SQL 脚本 app_stu_select-Mysql.sql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B82CD1DA-BB37-4D39-BAF1-E0B06BD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资料来源：README、pom.xml、CLAUDE</a:t>
            </a:r>
          </a:p>
        </p:txBody>
      </p:sp>
      <p:sp>
        <p:nvSpPr>
          <p:cNvPr id="24" name="page-3">
            <a:extLst xmlns:a="http://schemas.openxmlformats.org/drawingml/2006/main">
              <a:ext uri="{FF2B5EF4-FFF2-40B4-BE49-F238E27FC236}">
                <a16:creationId xmlns:a16="http://schemas.microsoft.com/office/drawing/2014/main" id="{BD10FE3C-E8C8-49B9-AA08-C29A029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1850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7AC731C5-3ED7-4D87-9C13-A8D6CBE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03 功能设计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1E5507B5-4296-4210-8602-0270C6B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三类用户围绕课程生命周期协同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D7C106B9-3A99-49FC-967F-F935AB30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权限边界清晰：管理员维护基础数据，教师负责授课与成绩，学生完成选课、退课和成绩查询。</a:t>
            </a:r>
          </a:p>
        </p:txBody>
      </p:sp>
      <p:sp>
        <p:nvSpPr>
          <p:cNvPr id="4" name="role-card-0">
            <a:extLst xmlns:a="http://schemas.openxmlformats.org/drawingml/2006/main">
              <a:ext uri="{FF2B5EF4-FFF2-40B4-BE49-F238E27FC236}">
                <a16:creationId xmlns:a16="http://schemas.microsoft.com/office/drawing/2014/main" id="{D0042375-7AB5-4C6D-8F38-2B55474D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990850" cy="34290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ole-head-0">
            <a:extLst xmlns:a="http://schemas.openxmlformats.org/drawingml/2006/main">
              <a:ext uri="{FF2B5EF4-FFF2-40B4-BE49-F238E27FC236}">
                <a16:creationId xmlns:a16="http://schemas.microsoft.com/office/drawing/2014/main" id="{0CF5920B-0AEC-476B-9D40-7A2C34E5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9908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6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76A1C38E-7255-4B9D-BB10-B4F8F866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7" name="role-dot-0-0">
            <a:extLst xmlns:a="http://schemas.openxmlformats.org/drawingml/2006/main">
              <a:ext uri="{FF2B5EF4-FFF2-40B4-BE49-F238E27FC236}">
                <a16:creationId xmlns:a16="http://schemas.microsoft.com/office/drawing/2014/main" id="{63A839EF-736A-49EB-B077-3168DFBE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8" name="role-bullet-0-0">
            <a:extLst xmlns:a="http://schemas.openxmlformats.org/drawingml/2006/main">
              <a:ext uri="{FF2B5EF4-FFF2-40B4-BE49-F238E27FC236}">
                <a16:creationId xmlns:a16="http://schemas.microsoft.com/office/drawing/2014/main" id="{A78AB433-1DAA-4676-801C-C07269F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课程/教师/学生管理</a:t>
            </a:r>
          </a:p>
        </p:txBody>
      </p:sp>
      <p:sp>
        <p:nvSpPr>
          <p:cNvPr id="9" name="role-dot-0-1">
            <a:extLst xmlns:a="http://schemas.openxmlformats.org/drawingml/2006/main">
              <a:ext uri="{FF2B5EF4-FFF2-40B4-BE49-F238E27FC236}">
                <a16:creationId xmlns:a16="http://schemas.microsoft.com/office/drawing/2014/main" id="{E1D9751A-596A-48C0-936C-9AFBCDB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" name="role-bullet-0-1">
            <a:extLst xmlns:a="http://schemas.openxmlformats.org/drawingml/2006/main">
              <a:ext uri="{FF2B5EF4-FFF2-40B4-BE49-F238E27FC236}">
                <a16:creationId xmlns:a16="http://schemas.microsoft.com/office/drawing/2014/main" id="{B66346A8-90E4-4BD4-8A92-38F69A5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选退课窗口配置</a:t>
            </a:r>
          </a:p>
        </p:txBody>
      </p:sp>
      <p:sp>
        <p:nvSpPr>
          <p:cNvPr id="11" name="role-dot-0-2">
            <a:extLst xmlns:a="http://schemas.openxmlformats.org/drawingml/2006/main">
              <a:ext uri="{FF2B5EF4-FFF2-40B4-BE49-F238E27FC236}">
                <a16:creationId xmlns:a16="http://schemas.microsoft.com/office/drawing/2014/main" id="{6F301598-0D9F-4787-8CB7-735ACF7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2" name="role-bullet-0-2">
            <a:extLst xmlns:a="http://schemas.openxmlformats.org/drawingml/2006/main">
              <a:ext uri="{FF2B5EF4-FFF2-40B4-BE49-F238E27FC236}">
                <a16:creationId xmlns:a16="http://schemas.microsoft.com/office/drawing/2014/main" id="{61C79248-DC3F-4CE6-9118-7767802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选课记录与仪表盘</a:t>
            </a:r>
          </a:p>
        </p:txBody>
      </p:sp>
      <p:sp>
        <p:nvSpPr>
          <p:cNvPr id="13" name="role-dot-0-3">
            <a:extLst xmlns:a="http://schemas.openxmlformats.org/drawingml/2006/main">
              <a:ext uri="{FF2B5EF4-FFF2-40B4-BE49-F238E27FC236}">
                <a16:creationId xmlns:a16="http://schemas.microsoft.com/office/drawing/2014/main" id="{12E7FBD3-3204-473B-83B8-8401BB2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4" name="role-bullet-0-3">
            <a:extLst xmlns:a="http://schemas.openxmlformats.org/drawingml/2006/main">
              <a:ext uri="{FF2B5EF4-FFF2-40B4-BE49-F238E27FC236}">
                <a16:creationId xmlns:a16="http://schemas.microsoft.com/office/drawing/2014/main" id="{2A43FFC6-7EF4-438B-8658-ADB9E4E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系统基础数据维护</a:t>
            </a:r>
          </a:p>
        </p:txBody>
      </p:sp>
      <p:sp>
        <p:nvSpPr>
          <p:cNvPr id="15" name="role-card-1">
            <a:extLst xmlns:a="http://schemas.openxmlformats.org/drawingml/2006/main">
              <a:ext uri="{FF2B5EF4-FFF2-40B4-BE49-F238E27FC236}">
                <a16:creationId xmlns:a16="http://schemas.microsoft.com/office/drawing/2014/main" id="{3C7CB66B-8AC5-417D-8018-E6F638CB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990850" cy="34290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role-head-1">
            <a:extLst xmlns:a="http://schemas.openxmlformats.org/drawingml/2006/main">
              <a:ext uri="{FF2B5EF4-FFF2-40B4-BE49-F238E27FC236}">
                <a16:creationId xmlns:a16="http://schemas.microsoft.com/office/drawing/2014/main" id="{F973C336-553F-4C5D-AA1B-22E717D8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9908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7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BE961D60-AAA0-4415-BCD7-45F3A0F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8" name="role-dot-1-0">
            <a:extLst xmlns:a="http://schemas.openxmlformats.org/drawingml/2006/main">
              <a:ext uri="{FF2B5EF4-FFF2-40B4-BE49-F238E27FC236}">
                <a16:creationId xmlns:a16="http://schemas.microsoft.com/office/drawing/2014/main" id="{D4EAB9DB-72A7-4C11-85A3-6E1391F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9" name="role-bullet-1-0">
            <a:extLst xmlns:a="http://schemas.openxmlformats.org/drawingml/2006/main">
              <a:ext uri="{FF2B5EF4-FFF2-40B4-BE49-F238E27FC236}">
                <a16:creationId xmlns:a16="http://schemas.microsoft.com/office/drawing/2014/main" id="{0B4014BF-A771-4F4A-93D6-90D926E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查看所授课程</a:t>
            </a:r>
          </a:p>
        </p:txBody>
      </p:sp>
      <p:sp>
        <p:nvSpPr>
          <p:cNvPr id="20" name="role-dot-1-1">
            <a:extLst xmlns:a="http://schemas.openxmlformats.org/drawingml/2006/main">
              <a:ext uri="{FF2B5EF4-FFF2-40B4-BE49-F238E27FC236}">
                <a16:creationId xmlns:a16="http://schemas.microsoft.com/office/drawing/2014/main" id="{0BEE5881-3E2A-47C0-9DFF-971AB2B7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21" name="role-bullet-1-1">
            <a:extLst xmlns:a="http://schemas.openxmlformats.org/drawingml/2006/main">
              <a:ext uri="{FF2B5EF4-FFF2-40B4-BE49-F238E27FC236}">
                <a16:creationId xmlns:a16="http://schemas.microsoft.com/office/drawing/2014/main" id="{C38C7CEA-59EC-43A0-933B-8A882F0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查看选课学生</a:t>
            </a:r>
          </a:p>
        </p:txBody>
      </p:sp>
      <p:sp>
        <p:nvSpPr>
          <p:cNvPr id="22" name="role-dot-1-2">
            <a:extLst xmlns:a="http://schemas.openxmlformats.org/drawingml/2006/main">
              <a:ext uri="{FF2B5EF4-FFF2-40B4-BE49-F238E27FC236}">
                <a16:creationId xmlns:a16="http://schemas.microsoft.com/office/drawing/2014/main" id="{5B57639F-CEC1-4656-B837-5F9FAB1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23" name="role-bullet-1-2">
            <a:extLst xmlns:a="http://schemas.openxmlformats.org/drawingml/2006/main">
              <a:ext uri="{FF2B5EF4-FFF2-40B4-BE49-F238E27FC236}">
                <a16:creationId xmlns:a16="http://schemas.microsoft.com/office/drawing/2014/main" id="{ED64A98D-3938-45B0-82C5-C6DD3EF7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成绩录入</a:t>
            </a:r>
          </a:p>
        </p:txBody>
      </p:sp>
      <p:sp>
        <p:nvSpPr>
          <p:cNvPr id="24" name="role-dot-1-3">
            <a:extLst xmlns:a="http://schemas.openxmlformats.org/drawingml/2006/main">
              <a:ext uri="{FF2B5EF4-FFF2-40B4-BE49-F238E27FC236}">
                <a16:creationId xmlns:a16="http://schemas.microsoft.com/office/drawing/2014/main" id="{33CFB35C-654C-4734-8E07-8067FF3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25" name="role-bullet-1-3">
            <a:extLst xmlns:a="http://schemas.openxmlformats.org/drawingml/2006/main">
              <a:ext uri="{FF2B5EF4-FFF2-40B4-BE49-F238E27FC236}">
                <a16:creationId xmlns:a16="http://schemas.microsoft.com/office/drawing/2014/main" id="{F21DD30F-27A9-4AA1-9EA7-4A9AE78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个人资料维护</a:t>
            </a:r>
          </a:p>
        </p:txBody>
      </p:sp>
      <p:sp>
        <p:nvSpPr>
          <p:cNvPr id="26" name="role-card-2">
            <a:extLst xmlns:a="http://schemas.openxmlformats.org/drawingml/2006/main">
              <a:ext uri="{FF2B5EF4-FFF2-40B4-BE49-F238E27FC236}">
                <a16:creationId xmlns:a16="http://schemas.microsoft.com/office/drawing/2014/main" id="{2E1EB243-2A52-4F46-9A2A-9E8FA48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990850" cy="34290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role-head-2">
            <a:extLst xmlns:a="http://schemas.openxmlformats.org/drawingml/2006/main">
              <a:ext uri="{FF2B5EF4-FFF2-40B4-BE49-F238E27FC236}">
                <a16:creationId xmlns:a16="http://schemas.microsoft.com/office/drawing/2014/main" id="{AF5528D9-544D-490E-8EBB-FB6A3E11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9908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8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9ED3436B-C657-4FA2-A5CB-82E310AA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29" name="role-dot-2-0">
            <a:extLst xmlns:a="http://schemas.openxmlformats.org/drawingml/2006/main">
              <a:ext uri="{FF2B5EF4-FFF2-40B4-BE49-F238E27FC236}">
                <a16:creationId xmlns:a16="http://schemas.microsoft.com/office/drawing/2014/main" id="{CABDE0D7-99A1-41A1-8FF0-0667B93C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0" name="role-bullet-2-0">
            <a:extLst xmlns:a="http://schemas.openxmlformats.org/drawingml/2006/main">
              <a:ext uri="{FF2B5EF4-FFF2-40B4-BE49-F238E27FC236}">
                <a16:creationId xmlns:a16="http://schemas.microsoft.com/office/drawing/2014/main" id="{BD862715-2B3C-40C7-B2FD-4E0311D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课程筛选与选课</a:t>
            </a:r>
          </a:p>
        </p:txBody>
      </p:sp>
      <p:sp>
        <p:nvSpPr>
          <p:cNvPr id="31" name="role-dot-2-1">
            <a:extLst xmlns:a="http://schemas.openxmlformats.org/drawingml/2006/main">
              <a:ext uri="{FF2B5EF4-FFF2-40B4-BE49-F238E27FC236}">
                <a16:creationId xmlns:a16="http://schemas.microsoft.com/office/drawing/2014/main" id="{4896BD6D-9C48-48F2-9300-B6460E76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2" name="role-bullet-2-1">
            <a:extLst xmlns:a="http://schemas.openxmlformats.org/drawingml/2006/main">
              <a:ext uri="{FF2B5EF4-FFF2-40B4-BE49-F238E27FC236}">
                <a16:creationId xmlns:a16="http://schemas.microsoft.com/office/drawing/2014/main" id="{FB35F201-E2E1-4CDD-A650-131A9EE5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14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退课与状态查看</a:t>
            </a:r>
          </a:p>
        </p:txBody>
      </p:sp>
      <p:sp>
        <p:nvSpPr>
          <p:cNvPr id="33" name="role-dot-2-2">
            <a:extLst xmlns:a="http://schemas.openxmlformats.org/drawingml/2006/main">
              <a:ext uri="{FF2B5EF4-FFF2-40B4-BE49-F238E27FC236}">
                <a16:creationId xmlns:a16="http://schemas.microsoft.com/office/drawing/2014/main" id="{43C22127-7935-427A-B2C1-317552E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4" name="role-bullet-2-2">
            <a:extLst xmlns:a="http://schemas.openxmlformats.org/drawingml/2006/main">
              <a:ext uri="{FF2B5EF4-FFF2-40B4-BE49-F238E27FC236}">
                <a16:creationId xmlns:a16="http://schemas.microsoft.com/office/drawing/2014/main" id="{FDDBCB28-B13E-4C36-A1A7-1C17B79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成绩/GPA 查询</a:t>
            </a:r>
          </a:p>
        </p:txBody>
      </p:sp>
      <p:sp>
        <p:nvSpPr>
          <p:cNvPr id="35" name="role-dot-2-3">
            <a:extLst xmlns:a="http://schemas.openxmlformats.org/drawingml/2006/main">
              <a:ext uri="{FF2B5EF4-FFF2-40B4-BE49-F238E27FC236}">
                <a16:creationId xmlns:a16="http://schemas.microsoft.com/office/drawing/2014/main" id="{21E56F7D-12E6-4A0D-97FD-E83919D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6" name="role-bullet-2-3">
            <a:extLst xmlns:a="http://schemas.openxmlformats.org/drawingml/2006/main">
              <a:ext uri="{FF2B5EF4-FFF2-40B4-BE49-F238E27FC236}">
                <a16:creationId xmlns:a16="http://schemas.microsoft.com/office/drawing/2014/main" id="{0042BE9B-6BAF-451A-ABFA-9F938C11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AI 选课助手</a:t>
            </a:r>
          </a:p>
        </p:txBody>
      </p:sp>
      <p:sp>
        <p:nvSpPr>
          <p:cNvPr id="37" name="footer-4">
            <a:extLst xmlns:a="http://schemas.openxmlformats.org/drawingml/2006/main">
              <a:ext uri="{FF2B5EF4-FFF2-40B4-BE49-F238E27FC236}">
                <a16:creationId xmlns:a16="http://schemas.microsoft.com/office/drawing/2014/main" id="{3BAD5056-3214-4EB5-A943-D3C2F76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资料来源：README、CLAUDE、数据库表结构说明、pom.xml</a:t>
            </a:r>
          </a:p>
        </p:txBody>
      </p:sp>
      <p:sp>
        <p:nvSpPr>
          <p:cNvPr id="38" name="page-4">
            <a:extLst xmlns:a="http://schemas.openxmlformats.org/drawingml/2006/main">
              <a:ext uri="{FF2B5EF4-FFF2-40B4-BE49-F238E27FC236}">
                <a16:creationId xmlns:a16="http://schemas.microsoft.com/office/drawing/2014/main" id="{EAF59C92-4999-4ECD-A48B-A9591B4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3104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49E2F077-7DE8-4DD5-A60D-1A837B1A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04 数据库设计</a:t>
            </a:r>
          </a:p>
        </p:txBody>
      </p:sp>
      <p:sp>
        <p:nvSpPr>
          <p:cNvPr id="2" name="heading-5">
            <a:extLst xmlns:a="http://schemas.openxmlformats.org/drawingml/2006/main">
              <a:ext uri="{FF2B5EF4-FFF2-40B4-BE49-F238E27FC236}">
                <a16:creationId xmlns:a16="http://schemas.microsoft.com/office/drawing/2014/main" id="{458F0DAA-4AAA-4E9B-9AA9-412FFECE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以选课记录为中心，扩展规则表承载智能校验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5A9396C7-8EF0-473B-B805-FF4A9A70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数据库不仅保存基础实体，也把先修、互斥、类型限选、GPA 学分上限做成可配置规则。</a:t>
            </a:r>
          </a:p>
        </p:txBody>
      </p:sp>
      <p:sp>
        <p:nvSpPr>
          <p:cNvPr id="4" name="db-node-window">
            <a:extLst xmlns:a="http://schemas.openxmlformats.org/drawingml/2006/main">
              <a:ext uri="{FF2B5EF4-FFF2-40B4-BE49-F238E27FC236}">
                <a16:creationId xmlns:a16="http://schemas.microsoft.com/office/drawing/2014/main" id="{336C6FAC-357B-4AFA-AE37-6644960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5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db-label-window">
            <a:extLst xmlns:a="http://schemas.openxmlformats.org/drawingml/2006/main">
              <a:ext uri="{FF2B5EF4-FFF2-40B4-BE49-F238E27FC236}">
                <a16:creationId xmlns:a16="http://schemas.microsoft.com/office/drawing/2014/main" id="{DE9C7A11-891C-4321-83F3-EAB7600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时间窗口</a:t>
            </a:r>
          </a:p>
        </p:txBody>
      </p:sp>
      <p:sp>
        <p:nvSpPr>
          <p:cNvPr id="6" name="db-table-window">
            <a:extLst xmlns:a="http://schemas.openxmlformats.org/drawingml/2006/main">
              <a:ext uri="{FF2B5EF4-FFF2-40B4-BE49-F238E27FC236}">
                <a16:creationId xmlns:a16="http://schemas.microsoft.com/office/drawing/2014/main" id="{7F1DA5F0-6920-4C3F-98D5-E36EB44C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tb_selection_window</a:t>
            </a:r>
          </a:p>
        </p:txBody>
      </p:sp>
      <p:sp>
        <p:nvSpPr>
          <p:cNvPr id="7" name="db-node-teacher">
            <a:extLst xmlns:a="http://schemas.openxmlformats.org/drawingml/2006/main">
              <a:ext uri="{FF2B5EF4-FFF2-40B4-BE49-F238E27FC236}">
                <a16:creationId xmlns:a16="http://schemas.microsoft.com/office/drawing/2014/main" id="{B6BCCB55-AA9D-4831-8287-85C2EFD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9D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db-label-teacher">
            <a:extLst xmlns:a="http://schemas.openxmlformats.org/drawingml/2006/main">
              <a:ext uri="{FF2B5EF4-FFF2-40B4-BE49-F238E27FC236}">
                <a16:creationId xmlns:a16="http://schemas.microsoft.com/office/drawing/2014/main" id="{F21FC790-5493-4009-B7D7-D0E60ECC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43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9" name="db-table-teacher">
            <a:extLst xmlns:a="http://schemas.openxmlformats.org/drawingml/2006/main">
              <a:ext uri="{FF2B5EF4-FFF2-40B4-BE49-F238E27FC236}">
                <a16:creationId xmlns:a16="http://schemas.microsoft.com/office/drawing/2014/main" id="{DE5A6A60-6681-4AD2-AF0C-E47B043F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tb_teacher</a:t>
            </a:r>
          </a:p>
        </p:txBody>
      </p:sp>
      <p:sp>
        <p:nvSpPr>
          <p:cNvPr id="10" name="db-node-student">
            <a:extLst xmlns:a="http://schemas.openxmlformats.org/drawingml/2006/main">
              <a:ext uri="{FF2B5EF4-FFF2-40B4-BE49-F238E27FC236}">
                <a16:creationId xmlns:a16="http://schemas.microsoft.com/office/drawing/2014/main" id="{FCF12541-E7E6-48E6-9828-A51E1CBD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db-label-student">
            <a:extLst xmlns:a="http://schemas.openxmlformats.org/drawingml/2006/main">
              <a:ext uri="{FF2B5EF4-FFF2-40B4-BE49-F238E27FC236}">
                <a16:creationId xmlns:a16="http://schemas.microsoft.com/office/drawing/2014/main" id="{CD43EBDE-6C35-41DF-A34F-D0E4C97E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2" name="db-table-student">
            <a:extLst xmlns:a="http://schemas.openxmlformats.org/drawingml/2006/main">
              <a:ext uri="{FF2B5EF4-FFF2-40B4-BE49-F238E27FC236}">
                <a16:creationId xmlns:a16="http://schemas.microsoft.com/office/drawing/2014/main" id="{BD0DE196-DA3A-4573-B929-B4BA0EC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tb_student</a:t>
            </a:r>
          </a:p>
        </p:txBody>
      </p:sp>
      <p:sp>
        <p:nvSpPr>
          <p:cNvPr id="13" name="db-node-sct">
            <a:extLst xmlns:a="http://schemas.openxmlformats.org/drawingml/2006/main">
              <a:ext uri="{FF2B5EF4-FFF2-40B4-BE49-F238E27FC236}">
                <a16:creationId xmlns:a16="http://schemas.microsoft.com/office/drawing/2014/main" id="{64DF55E6-2CE2-4079-BE3D-BDF27963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2133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db-label-sct">
            <a:extLst xmlns:a="http://schemas.openxmlformats.org/drawingml/2006/main">
              <a:ext uri="{FF2B5EF4-FFF2-40B4-BE49-F238E27FC236}">
                <a16:creationId xmlns:a16="http://schemas.microsoft.com/office/drawing/2014/main" id="{055CD111-A633-4FFA-AE70-C1605C57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选课记录</a:t>
            </a:r>
          </a:p>
        </p:txBody>
      </p:sp>
      <p:sp>
        <p:nvSpPr>
          <p:cNvPr id="15" name="db-table-sct">
            <a:extLst xmlns:a="http://schemas.openxmlformats.org/drawingml/2006/main">
              <a:ext uri="{FF2B5EF4-FFF2-40B4-BE49-F238E27FC236}">
                <a16:creationId xmlns:a16="http://schemas.microsoft.com/office/drawing/2014/main" id="{2BA484EB-FEDB-41BD-8ABF-91DEE435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tb_sct</a:t>
            </a:r>
          </a:p>
        </p:txBody>
      </p:sp>
      <p:sp>
        <p:nvSpPr>
          <p:cNvPr id="16" name="db-node-course">
            <a:extLst xmlns:a="http://schemas.openxmlformats.org/drawingml/2006/main">
              <a:ext uri="{FF2B5EF4-FFF2-40B4-BE49-F238E27FC236}">
                <a16:creationId xmlns:a16="http://schemas.microsoft.com/office/drawing/2014/main" id="{D08E2E01-D8F2-445F-859C-83692B5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db-label-course">
            <a:extLst xmlns:a="http://schemas.openxmlformats.org/drawingml/2006/main">
              <a:ext uri="{FF2B5EF4-FFF2-40B4-BE49-F238E27FC236}">
                <a16:creationId xmlns:a16="http://schemas.microsoft.com/office/drawing/2014/main" id="{13E088A9-F130-48E9-AB3A-603C8931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18" name="db-table-course">
            <a:extLst xmlns:a="http://schemas.openxmlformats.org/drawingml/2006/main">
              <a:ext uri="{FF2B5EF4-FFF2-40B4-BE49-F238E27FC236}">
                <a16:creationId xmlns:a16="http://schemas.microsoft.com/office/drawing/2014/main" id="{0EE7AACF-4143-409B-AA51-935A523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tb_course</a:t>
            </a:r>
          </a:p>
        </p:txBody>
      </p:sp>
      <p:sp>
        <p:nvSpPr>
          <p:cNvPr id="19" name="db-line-window-student">
            <a:extLst xmlns:a="http://schemas.openxmlformats.org/drawingml/2006/main">
              <a:ext uri="{FF2B5EF4-FFF2-40B4-BE49-F238E27FC236}">
                <a16:creationId xmlns:a16="http://schemas.microsoft.com/office/drawing/2014/main" id="{1376942E-5D9F-42CF-89BB-C7E1471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20" name="db-line-student-sct">
            <a:extLst xmlns:a="http://schemas.openxmlformats.org/drawingml/2006/main">
              <a:ext uri="{FF2B5EF4-FFF2-40B4-BE49-F238E27FC236}">
                <a16:creationId xmlns:a16="http://schemas.microsoft.com/office/drawing/2014/main" id="{6D7F5BAE-5360-48CA-9F80-926D316B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21" name="db-line-sct-course">
            <a:extLst xmlns:a="http://schemas.openxmlformats.org/drawingml/2006/main">
              <a:ext uri="{FF2B5EF4-FFF2-40B4-BE49-F238E27FC236}">
                <a16:creationId xmlns:a16="http://schemas.microsoft.com/office/drawing/2014/main" id="{B784DEC1-F089-44B4-9165-CA62589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8615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22" name="db-line-teacher-course">
            <a:extLst xmlns:a="http://schemas.openxmlformats.org/drawingml/2006/main">
              <a:ext uri="{FF2B5EF4-FFF2-40B4-BE49-F238E27FC236}">
                <a16:creationId xmlns:a16="http://schemas.microsoft.com/office/drawing/2014/main" id="{79671E20-D4B8-4714-9DC8-F8E170C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336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23" name="db-link-a">
            <a:extLst xmlns:a="http://schemas.openxmlformats.org/drawingml/2006/main">
              <a:ext uri="{FF2B5EF4-FFF2-40B4-BE49-F238E27FC236}">
                <a16:creationId xmlns:a16="http://schemas.microsoft.com/office/drawing/2014/main" id="{4F02A7F5-E8A3-46FD-AA49-A682A0CC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窗口控制</a:t>
            </a:r>
          </a:p>
        </p:txBody>
      </p:sp>
      <p:sp>
        <p:nvSpPr>
          <p:cNvPr id="24" name="db-link-b">
            <a:extLst xmlns:a="http://schemas.openxmlformats.org/drawingml/2006/main">
              <a:ext uri="{FF2B5EF4-FFF2-40B4-BE49-F238E27FC236}">
                <a16:creationId xmlns:a16="http://schemas.microsoft.com/office/drawing/2014/main" id="{E0A39F0B-7991-4D3B-AE7A-9F9B5D8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选课</a:t>
            </a:r>
          </a:p>
        </p:txBody>
      </p:sp>
      <p:sp>
        <p:nvSpPr>
          <p:cNvPr id="25" name="db-link-c">
            <a:extLst xmlns:a="http://schemas.openxmlformats.org/drawingml/2006/main">
              <a:ext uri="{FF2B5EF4-FFF2-40B4-BE49-F238E27FC236}">
                <a16:creationId xmlns:a16="http://schemas.microsoft.com/office/drawing/2014/main" id="{1EBBC25B-92BF-498D-806F-59DF1D8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26" name="db-link-d">
            <a:extLst xmlns:a="http://schemas.openxmlformats.org/drawingml/2006/main">
              <a:ext uri="{FF2B5EF4-FFF2-40B4-BE49-F238E27FC236}">
                <a16:creationId xmlns:a16="http://schemas.microsoft.com/office/drawing/2014/main" id="{2AF367C5-8654-419D-B163-67D7D2E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授课</a:t>
            </a:r>
          </a:p>
        </p:txBody>
      </p:sp>
      <p:sp>
        <p:nvSpPr>
          <p:cNvPr id="27" name="db-rule-band">
            <a:extLst xmlns:a="http://schemas.openxmlformats.org/drawingml/2006/main">
              <a:ext uri="{FF2B5EF4-FFF2-40B4-BE49-F238E27FC236}">
                <a16:creationId xmlns:a16="http://schemas.microsoft.com/office/drawing/2014/main" id="{FE2FBD9C-AB21-41D5-BB56-CCE3119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9334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EDF3F8"/>
            </a:solidFill>
            <a:prstDash val="solid"/>
          </a:ln>
        </p:spPr>
      </p:sp>
      <p:sp>
        <p:nvSpPr>
          <p:cNvPr id="28" name="db-rule-caption">
            <a:extLst xmlns:a="http://schemas.openxmlformats.org/drawingml/2006/main">
              <a:ext uri="{FF2B5EF4-FFF2-40B4-BE49-F238E27FC236}">
                <a16:creationId xmlns:a16="http://schemas.microsoft.com/office/drawing/2014/main" id="{50AA7E95-FECF-4785-AF39-0B77519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95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可配置业务规则表</a:t>
            </a:r>
          </a:p>
        </p:txBody>
      </p:sp>
      <p:sp>
        <p:nvSpPr>
          <p:cNvPr id="29" name="db-node-rule-0">
            <a:extLst xmlns:a="http://schemas.openxmlformats.org/drawingml/2006/main">
              <a:ext uri="{FF2B5EF4-FFF2-40B4-BE49-F238E27FC236}">
                <a16:creationId xmlns:a16="http://schemas.microsoft.com/office/drawing/2014/main" id="{A654CFB2-6735-423A-AE1B-435AA343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625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db-label-rule-0">
            <a:extLst xmlns:a="http://schemas.openxmlformats.org/drawingml/2006/main">
              <a:ext uri="{FF2B5EF4-FFF2-40B4-BE49-F238E27FC236}">
                <a16:creationId xmlns:a16="http://schemas.microsoft.com/office/drawing/2014/main" id="{AC10009D-4CD9-4D9F-88AA-DDA3B2D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959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先修</a:t>
            </a:r>
          </a:p>
        </p:txBody>
      </p:sp>
      <p:sp>
        <p:nvSpPr>
          <p:cNvPr id="31" name="db-table-rule-0">
            <a:extLst xmlns:a="http://schemas.openxmlformats.org/drawingml/2006/main">
              <a:ext uri="{FF2B5EF4-FFF2-40B4-BE49-F238E27FC236}">
                <a16:creationId xmlns:a16="http://schemas.microsoft.com/office/drawing/2014/main" id="{7631158E-2FAF-4A60-851F-4F47609B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81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tb_course_prerequisite</a:t>
            </a:r>
          </a:p>
        </p:txBody>
      </p:sp>
      <p:sp>
        <p:nvSpPr>
          <p:cNvPr id="32" name="db-line-rule-link-0">
            <a:extLst xmlns:a="http://schemas.openxmlformats.org/drawingml/2006/main">
              <a:ext uri="{FF2B5EF4-FFF2-40B4-BE49-F238E27FC236}">
                <a16:creationId xmlns:a16="http://schemas.microsoft.com/office/drawing/2014/main" id="{53E14735-0479-4A49-8E51-0A32C05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720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33" name="db-node-rule-1">
            <a:extLst xmlns:a="http://schemas.openxmlformats.org/drawingml/2006/main">
              <a:ext uri="{FF2B5EF4-FFF2-40B4-BE49-F238E27FC236}">
                <a16:creationId xmlns:a16="http://schemas.microsoft.com/office/drawing/2014/main" id="{50700B70-358A-4382-BC15-0AE7F2E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625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db-label-rule-1">
            <a:extLst xmlns:a="http://schemas.openxmlformats.org/drawingml/2006/main">
              <a:ext uri="{FF2B5EF4-FFF2-40B4-BE49-F238E27FC236}">
                <a16:creationId xmlns:a16="http://schemas.microsoft.com/office/drawing/2014/main" id="{D3C0A8E2-7AE6-4003-A752-A5E4875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959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rPr>
              <a:t>互斥</a:t>
            </a:r>
          </a:p>
        </p:txBody>
      </p:sp>
      <p:sp>
        <p:nvSpPr>
          <p:cNvPr id="35" name="db-table-rule-1">
            <a:extLst xmlns:a="http://schemas.openxmlformats.org/drawingml/2006/main">
              <a:ext uri="{FF2B5EF4-FFF2-40B4-BE49-F238E27FC236}">
                <a16:creationId xmlns:a16="http://schemas.microsoft.com/office/drawing/2014/main" id="{8D9D9DE3-E078-477D-906D-B6F5C6F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581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tb_course_mutex</a:t>
            </a:r>
          </a:p>
        </p:txBody>
      </p:sp>
      <p:sp>
        <p:nvSpPr>
          <p:cNvPr id="36" name="db-line-rule-link-1">
            <a:extLst xmlns:a="http://schemas.openxmlformats.org/drawingml/2006/main">
              <a:ext uri="{FF2B5EF4-FFF2-40B4-BE49-F238E27FC236}">
                <a16:creationId xmlns:a16="http://schemas.microsoft.com/office/drawing/2014/main" id="{0AC90B6C-78CD-4149-A183-5FDC782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720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37" name="db-node-rule-2">
            <a:extLst xmlns:a="http://schemas.openxmlformats.org/drawingml/2006/main">
              <a:ext uri="{FF2B5EF4-FFF2-40B4-BE49-F238E27FC236}">
                <a16:creationId xmlns:a16="http://schemas.microsoft.com/office/drawing/2014/main" id="{02F767A4-C96A-4AF5-8A5E-0B4F9A6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625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db-label-rule-2">
            <a:extLst xmlns:a="http://schemas.openxmlformats.org/drawingml/2006/main">
              <a:ext uri="{FF2B5EF4-FFF2-40B4-BE49-F238E27FC236}">
                <a16:creationId xmlns:a16="http://schemas.microsoft.com/office/drawing/2014/main" id="{F8127E78-4DDD-421C-9E99-B0ED7D3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959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类型限选</a:t>
            </a:r>
          </a:p>
        </p:txBody>
      </p:sp>
      <p:sp>
        <p:nvSpPr>
          <p:cNvPr id="39" name="db-table-rule-2">
            <a:extLst xmlns:a="http://schemas.openxmlformats.org/drawingml/2006/main">
              <a:ext uri="{FF2B5EF4-FFF2-40B4-BE49-F238E27FC236}">
                <a16:creationId xmlns:a16="http://schemas.microsoft.com/office/drawing/2014/main" id="{86F7ABC4-AE81-4AC5-91E6-1C8D133F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tb_course_type_limit</a:t>
            </a:r>
          </a:p>
        </p:txBody>
      </p:sp>
      <p:sp>
        <p:nvSpPr>
          <p:cNvPr id="40" name="db-line-rule-link-2">
            <a:extLst xmlns:a="http://schemas.openxmlformats.org/drawingml/2006/main">
              <a:ext uri="{FF2B5EF4-FFF2-40B4-BE49-F238E27FC236}">
                <a16:creationId xmlns:a16="http://schemas.microsoft.com/office/drawing/2014/main" id="{F7E555FF-5ADB-4237-B8E7-C072A51B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41" name="db-node-rule-3">
            <a:extLst xmlns:a="http://schemas.openxmlformats.org/drawingml/2006/main">
              <a:ext uri="{FF2B5EF4-FFF2-40B4-BE49-F238E27FC236}">
                <a16:creationId xmlns:a16="http://schemas.microsoft.com/office/drawing/2014/main" id="{AF81DFFC-68B7-47C1-9D35-3D3FD287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5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db-label-rule-3">
            <a:extLst xmlns:a="http://schemas.openxmlformats.org/drawingml/2006/main">
              <a:ext uri="{FF2B5EF4-FFF2-40B4-BE49-F238E27FC236}">
                <a16:creationId xmlns:a16="http://schemas.microsoft.com/office/drawing/2014/main" id="{ED41029F-40CF-44DC-B5D8-9C120E9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959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学分上限</a:t>
            </a:r>
          </a:p>
        </p:txBody>
      </p:sp>
      <p:sp>
        <p:nvSpPr>
          <p:cNvPr id="43" name="db-table-rule-3">
            <a:extLst xmlns:a="http://schemas.openxmlformats.org/drawingml/2006/main">
              <a:ext uri="{FF2B5EF4-FFF2-40B4-BE49-F238E27FC236}">
                <a16:creationId xmlns:a16="http://schemas.microsoft.com/office/drawing/2014/main" id="{41EF89E6-A3D8-47D3-9A4F-4946A13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81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tb_semester_credit_limit</a:t>
            </a:r>
          </a:p>
        </p:txBody>
      </p:sp>
      <p:sp>
        <p:nvSpPr>
          <p:cNvPr id="44" name="db-line-rule-link-3">
            <a:extLst xmlns:a="http://schemas.openxmlformats.org/drawingml/2006/main">
              <a:ext uri="{FF2B5EF4-FFF2-40B4-BE49-F238E27FC236}">
                <a16:creationId xmlns:a16="http://schemas.microsoft.com/office/drawing/2014/main" id="{B1FEFB9D-F60B-4E3B-972D-85D4970B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720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F"/>
          </a:solidFill>
          <a:ln xmlns:a="http://schemas.openxmlformats.org/drawingml/2006/main" w="0">
            <a:solidFill>
              <a:srgbClr val="C8D3DF"/>
            </a:solidFill>
            <a:prstDash val="solid"/>
          </a:ln>
        </p:spPr>
      </p:sp>
      <p:sp>
        <p:nvSpPr>
          <p:cNvPr id="45" name="footer-5">
            <a:extLst xmlns:a="http://schemas.openxmlformats.org/drawingml/2006/main">
              <a:ext uri="{FF2B5EF4-FFF2-40B4-BE49-F238E27FC236}">
                <a16:creationId xmlns:a16="http://schemas.microsoft.com/office/drawing/2014/main" id="{0DE0CB87-1203-4D87-85BD-AA3C8DF3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资料来源：数据库表结构说明、app_stu_select-Mysql.sql</a:t>
            </a:r>
          </a:p>
        </p:txBody>
      </p:sp>
      <p:sp>
        <p:nvSpPr>
          <p:cNvPr id="46" name="page-5">
            <a:extLst xmlns:a="http://schemas.openxmlformats.org/drawingml/2006/main">
              <a:ext uri="{FF2B5EF4-FFF2-40B4-BE49-F238E27FC236}">
                <a16:creationId xmlns:a16="http://schemas.microsoft.com/office/drawing/2014/main" id="{63FCD2B3-E529-4346-8303-4C940C0F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0036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21886A60-E23C-4BB6-B777-440CFD82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05 核心流程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E07157C3-8BAF-4F27-88DD-F10AA00F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学生选课请求经过权限、窗口、事务和业务规则四道关口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BB5DDA7D-98AC-424D-A316-5B07BCC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控制器只负责入口，真正的规则集中在 SelectionService 与 CourseValidationService 中。</a:t>
            </a:r>
          </a:p>
        </p:txBody>
      </p:sp>
      <p:sp>
        <p:nvSpPr>
          <p:cNvPr id="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99ADE9CB-C9DE-48B2-B9FF-060DA779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flow-num-0">
            <a:extLst xmlns:a="http://schemas.openxmlformats.org/drawingml/2006/main">
              <a:ext uri="{FF2B5EF4-FFF2-40B4-BE49-F238E27FC236}">
                <a16:creationId xmlns:a16="http://schemas.microsoft.com/office/drawing/2014/main" id="{071A47B9-0CB9-443A-B6B5-B82E8397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CD895529-DFC6-4789-B8DA-99FCCC05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提交选课</a:t>
            </a:r>
          </a:p>
        </p:txBody>
      </p:sp>
      <p:sp>
        <p:nvSpPr>
          <p:cNvPr id="7" name="flow-sub-0">
            <a:extLst xmlns:a="http://schemas.openxmlformats.org/drawingml/2006/main">
              <a:ext uri="{FF2B5EF4-FFF2-40B4-BE49-F238E27FC236}">
                <a16:creationId xmlns:a16="http://schemas.microsoft.com/office/drawing/2014/main" id="{AC3C36A0-6897-47D5-8B13-5BD7372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SelectionController.create</a:t>
            </a:r>
          </a:p>
        </p:txBody>
      </p:sp>
      <p:sp>
        <p:nvSpPr>
          <p:cNvPr id="8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0DF46DC7-6716-4581-A6BA-3774C25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-step-1">
            <a:extLst xmlns:a="http://schemas.openxmlformats.org/drawingml/2006/main">
              <a:ext uri="{FF2B5EF4-FFF2-40B4-BE49-F238E27FC236}">
                <a16:creationId xmlns:a16="http://schemas.microsoft.com/office/drawing/2014/main" id="{FB0EC2DD-436A-4288-8A2C-E4B8141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flow-num-1">
            <a:extLst xmlns:a="http://schemas.openxmlformats.org/drawingml/2006/main">
              <a:ext uri="{FF2B5EF4-FFF2-40B4-BE49-F238E27FC236}">
                <a16:creationId xmlns:a16="http://schemas.microsoft.com/office/drawing/2014/main" id="{27213B41-802F-4EC5-93B0-9C9E2DF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422B4866-DEAC-4AD6-BC48-444C34D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登录/角色</a:t>
            </a:r>
          </a:p>
        </p:txBody>
      </p:sp>
      <p:sp>
        <p:nvSpPr>
          <p:cNvPr id="12" name="flow-sub-1">
            <a:extLst xmlns:a="http://schemas.openxmlformats.org/drawingml/2006/main">
              <a:ext uri="{FF2B5EF4-FFF2-40B4-BE49-F238E27FC236}">
                <a16:creationId xmlns:a16="http://schemas.microsoft.com/office/drawing/2014/main" id="{56C559AD-609B-4AD1-877C-97E86BE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SessionService.requireRole</a:t>
            </a:r>
          </a:p>
        </p:txBody>
      </p:sp>
      <p:sp>
        <p:nvSpPr>
          <p:cNvPr id="1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17EE67B-099F-4E6A-8062-F692939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ADCD1BC-1AC4-4B89-B964-3D67D674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flow-num-2">
            <a:extLst xmlns:a="http://schemas.openxmlformats.org/drawingml/2006/main">
              <a:ext uri="{FF2B5EF4-FFF2-40B4-BE49-F238E27FC236}">
                <a16:creationId xmlns:a16="http://schemas.microsoft.com/office/drawing/2014/main" id="{DAA26FEB-FD56-464C-B35C-750026F9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8DB7896-487A-4E47-B89F-C8D0D87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时间窗口</a:t>
            </a:r>
          </a:p>
        </p:txBody>
      </p:sp>
      <p:sp>
        <p:nvSpPr>
          <p:cNvPr id="17" name="flow-sub-2">
            <a:extLst xmlns:a="http://schemas.openxmlformats.org/drawingml/2006/main">
              <a:ext uri="{FF2B5EF4-FFF2-40B4-BE49-F238E27FC236}">
                <a16:creationId xmlns:a16="http://schemas.microsoft.com/office/drawing/2014/main" id="{2636CE93-9BAF-477E-84C9-3E72C49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SelectionWindowService</a:t>
            </a:r>
          </a:p>
        </p:txBody>
      </p:sp>
      <p:sp>
        <p:nvSpPr>
          <p:cNvPr id="1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3FD4C86-A446-4E4E-AB50-BC27762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0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flow-step-3">
            <a:extLst xmlns:a="http://schemas.openxmlformats.org/drawingml/2006/main">
              <a:ext uri="{FF2B5EF4-FFF2-40B4-BE49-F238E27FC236}">
                <a16:creationId xmlns:a16="http://schemas.microsoft.com/office/drawing/2014/main" id="{F5421E78-59FF-4AAF-9AA4-ADD0165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flow-num-3">
            <a:extLst xmlns:a="http://schemas.openxmlformats.org/drawingml/2006/main">
              <a:ext uri="{FF2B5EF4-FFF2-40B4-BE49-F238E27FC236}">
                <a16:creationId xmlns:a16="http://schemas.microsoft.com/office/drawing/2014/main" id="{241BC278-014F-444C-B82E-79DCE243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6B0A4BD7-114F-498F-9C12-633193A8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事务锁定</a:t>
            </a:r>
          </a:p>
        </p:txBody>
      </p:sp>
      <p:sp>
        <p:nvSpPr>
          <p:cNvPr id="22" name="flow-sub-3">
            <a:extLst xmlns:a="http://schemas.openxmlformats.org/drawingml/2006/main">
              <a:ext uri="{FF2B5EF4-FFF2-40B4-BE49-F238E27FC236}">
                <a16:creationId xmlns:a16="http://schemas.microsoft.com/office/drawing/2014/main" id="{A87445B1-7061-491C-BE9F-ECAEE0CB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student/course FOR UPDATE</a:t>
            </a:r>
          </a:p>
        </p:txBody>
      </p:sp>
      <p:sp>
        <p:nvSpPr>
          <p:cNvPr id="2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1F77533-8C1F-4C84-9F82-C3BE6724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flow-step-4">
            <a:extLst xmlns:a="http://schemas.openxmlformats.org/drawingml/2006/main">
              <a:ext uri="{FF2B5EF4-FFF2-40B4-BE49-F238E27FC236}">
                <a16:creationId xmlns:a16="http://schemas.microsoft.com/office/drawing/2014/main" id="{36A2C268-7B23-4612-AD1A-6E45C6C6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152A938F-5160-49D3-BCED-EFB40DB1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CE2B390-9C71-402E-B381-FD2C3C4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八重校验</a:t>
            </a:r>
          </a:p>
        </p:txBody>
      </p:sp>
      <p:sp>
        <p:nvSpPr>
          <p:cNvPr id="27" name="flow-sub-4">
            <a:extLst xmlns:a="http://schemas.openxmlformats.org/drawingml/2006/main">
              <a:ext uri="{FF2B5EF4-FFF2-40B4-BE49-F238E27FC236}">
                <a16:creationId xmlns:a16="http://schemas.microsoft.com/office/drawing/2014/main" id="{1A1F489E-05DB-4FD4-B70A-A5722D3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CourseValidationService</a:t>
            </a:r>
          </a:p>
        </p:txBody>
      </p:sp>
      <p:sp>
        <p:nvSpPr>
          <p:cNvPr id="28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D7D8073-DAE1-4F21-B7EB-F08DA4D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0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flow-step-5">
            <a:extLst xmlns:a="http://schemas.openxmlformats.org/drawingml/2006/main">
              <a:ext uri="{FF2B5EF4-FFF2-40B4-BE49-F238E27FC236}">
                <a16:creationId xmlns:a16="http://schemas.microsoft.com/office/drawing/2014/main" id="{160AEC88-5DC2-43CC-93B0-FCED6F8E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1447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flow-num-5">
            <a:extLst xmlns:a="http://schemas.openxmlformats.org/drawingml/2006/main">
              <a:ext uri="{FF2B5EF4-FFF2-40B4-BE49-F238E27FC236}">
                <a16:creationId xmlns:a16="http://schemas.microsoft.com/office/drawing/2014/main" id="{76C1CFE0-4579-4145-A3A9-EC43DAC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76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5548C325-7888-4441-B87E-4FCA9BA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写入记录</a:t>
            </a:r>
          </a:p>
        </p:txBody>
      </p:sp>
      <p:sp>
        <p:nvSpPr>
          <p:cNvPr id="32" name="flow-sub-5">
            <a:extLst xmlns:a="http://schemas.openxmlformats.org/drawingml/2006/main">
              <a:ext uri="{FF2B5EF4-FFF2-40B4-BE49-F238E27FC236}">
                <a16:creationId xmlns:a16="http://schemas.microsoft.com/office/drawing/2014/main" id="{C72A7585-3A7B-4A4C-B9B0-1EAD0F99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SelectionMapper.insert</a:t>
            </a:r>
          </a:p>
        </p:txBody>
      </p:sp>
      <p:sp>
        <p:nvSpPr>
          <p:cNvPr id="33" name="flow-note">
            <a:extLst xmlns:a="http://schemas.openxmlformats.org/drawingml/2006/main">
              <a:ext uri="{FF2B5EF4-FFF2-40B4-BE49-F238E27FC236}">
                <a16:creationId xmlns:a16="http://schemas.microsoft.com/office/drawing/2014/main" id="{4AD762D2-4D07-4F47-9C13-819758D8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flow-note-text">
            <a:extLst xmlns:a="http://schemas.openxmlformats.org/drawingml/2006/main">
              <a:ext uri="{FF2B5EF4-FFF2-40B4-BE49-F238E27FC236}">
                <a16:creationId xmlns:a16="http://schemas.microsoft.com/office/drawing/2014/main" id="{2DD2F5B4-E871-4496-96EF-51B3526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设计收益：控制入口简洁，规则可集中测试；悲观锁与唯一索引共同防止重复选课、并发超额等数据一致性问题。</a:t>
            </a:r>
          </a:p>
        </p:txBody>
      </p:sp>
      <p:sp>
        <p:nvSpPr>
          <p:cNvPr id="35" name="footer-6">
            <a:extLst xmlns:a="http://schemas.openxmlformats.org/drawingml/2006/main">
              <a:ext uri="{FF2B5EF4-FFF2-40B4-BE49-F238E27FC236}">
                <a16:creationId xmlns:a16="http://schemas.microsoft.com/office/drawing/2014/main" id="{C3C746E2-2A35-4D2A-A4A8-3B232F7C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资料来源：CLAUDE、SelectionService / CourseValidationService 设计说明</a:t>
            </a:r>
          </a:p>
        </p:txBody>
      </p:sp>
      <p:sp>
        <p:nvSpPr>
          <p:cNvPr id="36" name="page-6">
            <a:extLst xmlns:a="http://schemas.openxmlformats.org/drawingml/2006/main">
              <a:ext uri="{FF2B5EF4-FFF2-40B4-BE49-F238E27FC236}">
                <a16:creationId xmlns:a16="http://schemas.microsoft.com/office/drawing/2014/main" id="{01089AF8-8DFB-402B-98E2-B8CA4C9C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9631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C7665C28-858E-4828-8506-8F7E3D10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06 技术亮点</a:t>
            </a:r>
          </a:p>
        </p:txBody>
      </p:sp>
      <p:sp>
        <p:nvSpPr>
          <p:cNvPr id="2" name="heading-7">
            <a:extLst xmlns:a="http://schemas.openxmlformats.org/drawingml/2006/main">
              <a:ext uri="{FF2B5EF4-FFF2-40B4-BE49-F238E27FC236}">
                <a16:creationId xmlns:a16="http://schemas.microsoft.com/office/drawing/2014/main" id="{94992A2D-5B7D-44D8-B15E-BC2A1068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八重智能校验把真实选课约束拆成可解释的规则流水线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6C3E457D-A247-4C20-A363-CFF1FB0E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校验顺序从低成本的基础检查逐步进入复杂规则，失败时给出明确原因。</a:t>
            </a:r>
          </a:p>
        </p:txBody>
      </p:sp>
      <p:sp>
        <p:nvSpPr>
          <p:cNvPr id="4" name="layer-0">
            <a:extLst xmlns:a="http://schemas.openxmlformats.org/drawingml/2006/main">
              <a:ext uri="{FF2B5EF4-FFF2-40B4-BE49-F238E27FC236}">
                <a16:creationId xmlns:a16="http://schemas.microsoft.com/office/drawing/2014/main" id="{20881655-E03B-431E-B873-FDDCC0F7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layer-no-0">
            <a:extLst xmlns:a="http://schemas.openxmlformats.org/drawingml/2006/main">
              <a:ext uri="{FF2B5EF4-FFF2-40B4-BE49-F238E27FC236}">
                <a16:creationId xmlns:a16="http://schemas.microsoft.com/office/drawing/2014/main" id="{E868D67D-C937-4D97-B9E4-CCC916E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Layer 1</a:t>
            </a:r>
          </a:p>
        </p:txBody>
      </p:sp>
      <p:sp>
        <p:nvSpPr>
          <p:cNvPr id="6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F830F02D-480A-45FD-A3AF-A47FBD4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重复选课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662D8B4A-EFDB-47D4-AF29-6A84206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layer-no-1">
            <a:extLst xmlns:a="http://schemas.openxmlformats.org/drawingml/2006/main">
              <a:ext uri="{FF2B5EF4-FFF2-40B4-BE49-F238E27FC236}">
                <a16:creationId xmlns:a16="http://schemas.microsoft.com/office/drawing/2014/main" id="{37456357-96B5-4E8C-A62C-BCB08CDD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9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C4BF7C21-478D-44A3-8840-EA7B098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384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课程容量</a:t>
            </a:r>
          </a:p>
        </p:txBody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DD73CD15-95EC-450E-B2D8-FCE78E36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layer-no-2">
            <a:extLst xmlns:a="http://schemas.openxmlformats.org/drawingml/2006/main">
              <a:ext uri="{FF2B5EF4-FFF2-40B4-BE49-F238E27FC236}">
                <a16:creationId xmlns:a16="http://schemas.microsoft.com/office/drawing/2014/main" id="{4AB7BCD3-5CC0-4B67-9495-713BEE4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Layer 3</a:t>
            </a:r>
          </a:p>
        </p:txBody>
      </p:sp>
      <p:sp>
        <p:nvSpPr>
          <p:cNvPr id="12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331D8565-B778-4C20-92C0-75C83B7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时间冲突</a:t>
            </a:r>
          </a:p>
        </p:txBody>
      </p:sp>
      <p:sp>
        <p:nvSpPr>
          <p:cNvPr id="13" name="layer-3">
            <a:extLst xmlns:a="http://schemas.openxmlformats.org/drawingml/2006/main">
              <a:ext uri="{FF2B5EF4-FFF2-40B4-BE49-F238E27FC236}">
                <a16:creationId xmlns:a16="http://schemas.microsoft.com/office/drawing/2014/main" id="{65B0ED34-670F-4FB9-BA1C-2F2826C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764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layer-no-3">
            <a:extLst xmlns:a="http://schemas.openxmlformats.org/drawingml/2006/main">
              <a:ext uri="{FF2B5EF4-FFF2-40B4-BE49-F238E27FC236}">
                <a16:creationId xmlns:a16="http://schemas.microsoft.com/office/drawing/2014/main" id="{02330E55-B6BC-4566-AC36-08C42A2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Layer 4</a:t>
            </a:r>
          </a:p>
        </p:txBody>
      </p:sp>
      <p:sp>
        <p:nvSpPr>
          <p:cNvPr id="15" name="layer-name-3">
            <a:extLst xmlns:a="http://schemas.openxmlformats.org/drawingml/2006/main">
              <a:ext uri="{FF2B5EF4-FFF2-40B4-BE49-F238E27FC236}">
                <a16:creationId xmlns:a16="http://schemas.microsoft.com/office/drawing/2014/main" id="{B0DBFEBA-6B25-4878-8FF3-907F979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年级权限</a:t>
            </a:r>
          </a:p>
        </p:txBody>
      </p:sp>
      <p:sp>
        <p:nvSpPr>
          <p:cNvPr id="16" name="layer-4">
            <a:extLst xmlns:a="http://schemas.openxmlformats.org/drawingml/2006/main">
              <a:ext uri="{FF2B5EF4-FFF2-40B4-BE49-F238E27FC236}">
                <a16:creationId xmlns:a16="http://schemas.microsoft.com/office/drawing/2014/main" id="{87A3BB5E-BCBC-42B4-8BE4-2A78D67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layer-no-4">
            <a:extLst xmlns:a="http://schemas.openxmlformats.org/drawingml/2006/main">
              <a:ext uri="{FF2B5EF4-FFF2-40B4-BE49-F238E27FC236}">
                <a16:creationId xmlns:a16="http://schemas.microsoft.com/office/drawing/2014/main" id="{FFD9E168-7C59-401F-A029-33857C39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Layer 5</a:t>
            </a:r>
          </a:p>
        </p:txBody>
      </p:sp>
      <p:sp>
        <p:nvSpPr>
          <p:cNvPr id="18" name="layer-name-4">
            <a:extLst xmlns:a="http://schemas.openxmlformats.org/drawingml/2006/main">
              <a:ext uri="{FF2B5EF4-FFF2-40B4-BE49-F238E27FC236}">
                <a16:creationId xmlns:a16="http://schemas.microsoft.com/office/drawing/2014/main" id="{B9A5070D-40E7-4435-9D96-48F7C083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先修课程</a:t>
            </a:r>
          </a:p>
        </p:txBody>
      </p:sp>
      <p:sp>
        <p:nvSpPr>
          <p:cNvPr id="19" name="layer-5">
            <a:extLst xmlns:a="http://schemas.openxmlformats.org/drawingml/2006/main">
              <a:ext uri="{FF2B5EF4-FFF2-40B4-BE49-F238E27FC236}">
                <a16:creationId xmlns:a16="http://schemas.microsoft.com/office/drawing/2014/main" id="{37312739-C328-4011-A7AD-78B8B71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layer-no-5">
            <a:extLst xmlns:a="http://schemas.openxmlformats.org/drawingml/2006/main">
              <a:ext uri="{FF2B5EF4-FFF2-40B4-BE49-F238E27FC236}">
                <a16:creationId xmlns:a16="http://schemas.microsoft.com/office/drawing/2014/main" id="{B1A76DA6-573C-4F75-A7A6-579AB28D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rPr>
              <a:t>Layer 6</a:t>
            </a:r>
          </a:p>
        </p:txBody>
      </p:sp>
      <p:sp>
        <p:nvSpPr>
          <p:cNvPr id="21" name="layer-name-5">
            <a:extLst xmlns:a="http://schemas.openxmlformats.org/drawingml/2006/main">
              <a:ext uri="{FF2B5EF4-FFF2-40B4-BE49-F238E27FC236}">
                <a16:creationId xmlns:a16="http://schemas.microsoft.com/office/drawing/2014/main" id="{104F50AB-CD0D-49F4-A9A9-8B6BED1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互斥课程</a:t>
            </a:r>
          </a:p>
        </p:txBody>
      </p:sp>
      <p:sp>
        <p:nvSpPr>
          <p:cNvPr id="22" name="layer-6">
            <a:extLst xmlns:a="http://schemas.openxmlformats.org/drawingml/2006/main">
              <a:ext uri="{FF2B5EF4-FFF2-40B4-BE49-F238E27FC236}">
                <a16:creationId xmlns:a16="http://schemas.microsoft.com/office/drawing/2014/main" id="{8DF07F1B-450D-43B7-B0CD-16487997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5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layer-no-6">
            <a:extLst xmlns:a="http://schemas.openxmlformats.org/drawingml/2006/main">
              <a:ext uri="{FF2B5EF4-FFF2-40B4-BE49-F238E27FC236}">
                <a16:creationId xmlns:a16="http://schemas.microsoft.com/office/drawing/2014/main" id="{31D7D472-E189-491D-88B8-C08A7CBC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B5DD3"/>
                </a:solidFill>
                <a:latin typeface="Microsoft YaHei"/>
                <a:ea typeface="Microsoft YaHei"/>
                <a:cs typeface="Microsoft YaHei"/>
              </a:rPr>
              <a:t>Layer 7</a:t>
            </a:r>
          </a:p>
        </p:txBody>
      </p:sp>
      <p:sp>
        <p:nvSpPr>
          <p:cNvPr id="24" name="layer-name-6">
            <a:extLst xmlns:a="http://schemas.openxmlformats.org/drawingml/2006/main">
              <a:ext uri="{FF2B5EF4-FFF2-40B4-BE49-F238E27FC236}">
                <a16:creationId xmlns:a16="http://schemas.microsoft.com/office/drawing/2014/main" id="{B9928040-B2B9-4412-9A31-F6C822C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类型限选</a:t>
            </a:r>
          </a:p>
        </p:txBody>
      </p:sp>
      <p:sp>
        <p:nvSpPr>
          <p:cNvPr id="25" name="layer-7">
            <a:extLst xmlns:a="http://schemas.openxmlformats.org/drawingml/2006/main">
              <a:ext uri="{FF2B5EF4-FFF2-40B4-BE49-F238E27FC236}">
                <a16:creationId xmlns:a16="http://schemas.microsoft.com/office/drawing/2014/main" id="{60E89036-6095-4296-8E93-25AEFA1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9D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layer-no-7">
            <a:extLst xmlns:a="http://schemas.openxmlformats.org/drawingml/2006/main">
              <a:ext uri="{FF2B5EF4-FFF2-40B4-BE49-F238E27FC236}">
                <a16:creationId xmlns:a16="http://schemas.microsoft.com/office/drawing/2014/main" id="{632D94C0-F83F-4009-8408-6EE0EF6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67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Layer 8</a:t>
            </a:r>
          </a:p>
        </p:txBody>
      </p:sp>
      <p:sp>
        <p:nvSpPr>
          <p:cNvPr id="27" name="layer-name-7">
            <a:extLst xmlns:a="http://schemas.openxmlformats.org/drawingml/2006/main">
              <a:ext uri="{FF2B5EF4-FFF2-40B4-BE49-F238E27FC236}">
                <a16:creationId xmlns:a16="http://schemas.microsoft.com/office/drawing/2014/main" id="{9982CF6A-7E77-410E-8FFE-8876CDF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学分上限</a:t>
            </a:r>
          </a:p>
        </p:txBody>
      </p:sp>
      <p:sp>
        <p:nvSpPr>
          <p:cNvPr id="28" name="layer-bottom">
            <a:extLst xmlns:a="http://schemas.openxmlformats.org/drawingml/2006/main">
              <a:ext uri="{FF2B5EF4-FFF2-40B4-BE49-F238E27FC236}">
                <a16:creationId xmlns:a16="http://schemas.microsoft.com/office/drawing/2014/main" id="{9830940A-6C93-484F-A7D7-3F3092E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76800"/>
            <a:ext cx="8648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102033"/>
            </a:solidFill>
            <a:prstDash val="solid"/>
          </a:ln>
        </p:spPr>
      </p:sp>
      <p:sp>
        <p:nvSpPr>
          <p:cNvPr id="29" name="layer-bottom-text">
            <a:extLst xmlns:a="http://schemas.openxmlformats.org/drawingml/2006/main">
              <a:ext uri="{FF2B5EF4-FFF2-40B4-BE49-F238E27FC236}">
                <a16:creationId xmlns:a16="http://schemas.microsoft.com/office/drawing/2014/main" id="{0EF0006B-4E4B-4021-8283-18F5E24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链式先修、双向互斥、GPA 动态学分上限，是本项目相对普通 CRUD 系统的主要创新点。</a:t>
            </a:r>
          </a:p>
        </p:txBody>
      </p:sp>
      <p:sp>
        <p:nvSpPr>
          <p:cNvPr id="30" name="footer-7">
            <a:extLst xmlns:a="http://schemas.openxmlformats.org/drawingml/2006/main">
              <a:ext uri="{FF2B5EF4-FFF2-40B4-BE49-F238E27FC236}">
                <a16:creationId xmlns:a16="http://schemas.microsoft.com/office/drawing/2014/main" id="{7F7596F0-53AD-4290-BBF1-4A51EB2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资料来源：README、CLAUDE、数据库表结构说明、pom.xml</a:t>
            </a:r>
          </a:p>
        </p:txBody>
      </p:sp>
      <p:sp>
        <p:nvSpPr>
          <p:cNvPr id="31" name="page-7">
            <a:extLst xmlns:a="http://schemas.openxmlformats.org/drawingml/2006/main">
              <a:ext uri="{FF2B5EF4-FFF2-40B4-BE49-F238E27FC236}">
                <a16:creationId xmlns:a16="http://schemas.microsoft.com/office/drawing/2014/main" id="{9FC1134F-F902-423F-B9C5-383D5A8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9858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7F50FDB7-49E9-4C6D-8E4D-10F3EBC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07 安全与一致性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54E4ECE8-25BD-4B82-913A-3EFE102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从登录凭证、权限边界到数据库事务形成闭环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AA53091F-C94B-4E7B-B305-0C36F21E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系统把安全性和一致性放在业务路径里，而不是只靠前端按钮隐藏。</a:t>
            </a:r>
          </a:p>
        </p:txBody>
      </p:sp>
      <p:sp>
        <p:nvSpPr>
          <p:cNvPr id="4" name="secure-0">
            <a:extLst xmlns:a="http://schemas.openxmlformats.org/drawingml/2006/main">
              <a:ext uri="{FF2B5EF4-FFF2-40B4-BE49-F238E27FC236}">
                <a16:creationId xmlns:a16="http://schemas.microsoft.com/office/drawing/2014/main" id="{78810DBF-DD1F-4214-A8D1-EF2E72F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4686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ecure-dot-0">
            <a:extLst xmlns:a="http://schemas.openxmlformats.org/drawingml/2006/main">
              <a:ext uri="{FF2B5EF4-FFF2-40B4-BE49-F238E27FC236}">
                <a16:creationId xmlns:a16="http://schemas.microsoft.com/office/drawing/2014/main" id="{6BCB5AAF-CB9D-4973-9170-87F7399D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6" name="secure-num-0">
            <a:extLst xmlns:a="http://schemas.openxmlformats.org/drawingml/2006/main">
              <a:ext uri="{FF2B5EF4-FFF2-40B4-BE49-F238E27FC236}">
                <a16:creationId xmlns:a16="http://schemas.microsoft.com/office/drawing/2014/main" id="{7A45A114-5DC6-4BDA-8A4E-DCF072BE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secure-title-0">
            <a:extLst xmlns:a="http://schemas.openxmlformats.org/drawingml/2006/main">
              <a:ext uri="{FF2B5EF4-FFF2-40B4-BE49-F238E27FC236}">
                <a16:creationId xmlns:a16="http://schemas.microsoft.com/office/drawing/2014/main" id="{D39DE3C4-B0E9-4A2B-A9EB-FE5BBACD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BCrypt 密码哈希</a:t>
            </a:r>
          </a:p>
        </p:txBody>
      </p:sp>
      <p:sp>
        <p:nvSpPr>
          <p:cNvPr id="8" name="secure-body-0">
            <a:extLst xmlns:a="http://schemas.openxmlformats.org/drawingml/2006/main">
              <a:ext uri="{FF2B5EF4-FFF2-40B4-BE49-F238E27FC236}">
                <a16:creationId xmlns:a16="http://schemas.microsoft.com/office/drawing/2014/main" id="{43493A6E-93D6-4AAC-ADE6-6B0406C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479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用户密码不明文存储，账号初始化数据也写入哈希值。</a:t>
            </a:r>
          </a:p>
        </p:txBody>
      </p:sp>
      <p:sp>
        <p:nvSpPr>
          <p:cNvPr id="9" name="secure-1">
            <a:extLst xmlns:a="http://schemas.openxmlformats.org/drawingml/2006/main">
              <a:ext uri="{FF2B5EF4-FFF2-40B4-BE49-F238E27FC236}">
                <a16:creationId xmlns:a16="http://schemas.microsoft.com/office/drawing/2014/main" id="{1EB76107-0BEA-4CFC-8921-B3A2112E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4686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ure-dot-1">
            <a:extLst xmlns:a="http://schemas.openxmlformats.org/drawingml/2006/main">
              <a:ext uri="{FF2B5EF4-FFF2-40B4-BE49-F238E27FC236}">
                <a16:creationId xmlns:a16="http://schemas.microsoft.com/office/drawing/2014/main" id="{AD18BC0C-C102-4AA7-9209-F27A540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1" name="secure-num-1">
            <a:extLst xmlns:a="http://schemas.openxmlformats.org/drawingml/2006/main">
              <a:ext uri="{FF2B5EF4-FFF2-40B4-BE49-F238E27FC236}">
                <a16:creationId xmlns:a16="http://schemas.microsoft.com/office/drawing/2014/main" id="{200CD44B-2BE1-407F-B5A0-5A06316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secure-title-1">
            <a:extLst xmlns:a="http://schemas.openxmlformats.org/drawingml/2006/main">
              <a:ext uri="{FF2B5EF4-FFF2-40B4-BE49-F238E27FC236}">
                <a16:creationId xmlns:a16="http://schemas.microsoft.com/office/drawing/2014/main" id="{C9306B7B-1123-462D-B824-47F1F6DF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Session 鉴权 + 角色授权</a:t>
            </a:r>
          </a:p>
        </p:txBody>
      </p:sp>
      <p:sp>
        <p:nvSpPr>
          <p:cNvPr id="13" name="secure-body-1">
            <a:extLst xmlns:a="http://schemas.openxmlformats.org/drawingml/2006/main">
              <a:ext uri="{FF2B5EF4-FFF2-40B4-BE49-F238E27FC236}">
                <a16:creationId xmlns:a16="http://schemas.microsoft.com/office/drawing/2014/main" id="{D02B51A1-CF53-4402-82F4-15D59B85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管理员、教师、学生在 Controller 层按角色进入不同业务能力。</a:t>
            </a:r>
          </a:p>
        </p:txBody>
      </p:sp>
      <p:sp>
        <p:nvSpPr>
          <p:cNvPr id="14" name="secure-2">
            <a:extLst xmlns:a="http://schemas.openxmlformats.org/drawingml/2006/main">
              <a:ext uri="{FF2B5EF4-FFF2-40B4-BE49-F238E27FC236}">
                <a16:creationId xmlns:a16="http://schemas.microsoft.com/office/drawing/2014/main" id="{BECEFEAA-78F8-42F4-8BAC-AE089CB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4686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ecure-dot-2">
            <a:extLst xmlns:a="http://schemas.openxmlformats.org/drawingml/2006/main">
              <a:ext uri="{FF2B5EF4-FFF2-40B4-BE49-F238E27FC236}">
                <a16:creationId xmlns:a16="http://schemas.microsoft.com/office/drawing/2014/main" id="{49573683-949A-4BB6-973D-5AA3D23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6" name="secure-num-2">
            <a:extLst xmlns:a="http://schemas.openxmlformats.org/drawingml/2006/main">
              <a:ext uri="{FF2B5EF4-FFF2-40B4-BE49-F238E27FC236}">
                <a16:creationId xmlns:a16="http://schemas.microsoft.com/office/drawing/2014/main" id="{E2554943-A513-449A-A2A8-8264B2D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secure-title-2">
            <a:extLst xmlns:a="http://schemas.openxmlformats.org/drawingml/2006/main">
              <a:ext uri="{FF2B5EF4-FFF2-40B4-BE49-F238E27FC236}">
                <a16:creationId xmlns:a16="http://schemas.microsoft.com/office/drawing/2014/main" id="{322525D3-D391-49F9-AF63-477C86D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统一异常与响应</a:t>
            </a:r>
          </a:p>
        </p:txBody>
      </p:sp>
      <p:sp>
        <p:nvSpPr>
          <p:cNvPr id="18" name="secure-body-2">
            <a:extLst xmlns:a="http://schemas.openxmlformats.org/drawingml/2006/main">
              <a:ext uri="{FF2B5EF4-FFF2-40B4-BE49-F238E27FC236}">
                <a16:creationId xmlns:a16="http://schemas.microsoft.com/office/drawing/2014/main" id="{EBE0A2DA-C7B4-4C29-B29E-9862C75F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005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ApiResponse 与 GlobalExceptionHandler 保证前端收到一致的成功/失败结构。</a:t>
            </a:r>
          </a:p>
        </p:txBody>
      </p:sp>
      <p:sp>
        <p:nvSpPr>
          <p:cNvPr id="19" name="secure-3">
            <a:extLst xmlns:a="http://schemas.openxmlformats.org/drawingml/2006/main">
              <a:ext uri="{FF2B5EF4-FFF2-40B4-BE49-F238E27FC236}">
                <a16:creationId xmlns:a16="http://schemas.microsoft.com/office/drawing/2014/main" id="{3C988705-5739-4538-8F80-C0F5C4D0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4686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ecure-dot-3">
            <a:extLst xmlns:a="http://schemas.openxmlformats.org/drawingml/2006/main">
              <a:ext uri="{FF2B5EF4-FFF2-40B4-BE49-F238E27FC236}">
                <a16:creationId xmlns:a16="http://schemas.microsoft.com/office/drawing/2014/main" id="{BFBE081F-FB38-4363-9E9C-627C71D7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D63"/>
          </a:solidFill>
          <a:ln xmlns:a="http://schemas.openxmlformats.org/drawingml/2006/main" w="0">
            <a:solidFill>
              <a:srgbClr val="3F9D63"/>
            </a:solidFill>
            <a:prstDash val="solid"/>
          </a:ln>
        </p:spPr>
      </p:sp>
      <p:sp>
        <p:nvSpPr>
          <p:cNvPr id="21" name="secure-num-3">
            <a:extLst xmlns:a="http://schemas.openxmlformats.org/drawingml/2006/main">
              <a:ext uri="{FF2B5EF4-FFF2-40B4-BE49-F238E27FC236}">
                <a16:creationId xmlns:a16="http://schemas.microsoft.com/office/drawing/2014/main" id="{CD7F6551-0978-48E7-92C9-8CD5140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ecure-title-3">
            <a:extLst xmlns:a="http://schemas.openxmlformats.org/drawingml/2006/main">
              <a:ext uri="{FF2B5EF4-FFF2-40B4-BE49-F238E27FC236}">
                <a16:creationId xmlns:a16="http://schemas.microsoft.com/office/drawing/2014/main" id="{FCCD7623-E54B-491E-9791-DDF243C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事务 + 悲观锁 + 唯一索引</a:t>
            </a:r>
          </a:p>
        </p:txBody>
      </p:sp>
      <p:sp>
        <p:nvSpPr>
          <p:cNvPr id="23" name="secure-body-3">
            <a:extLst xmlns:a="http://schemas.openxmlformats.org/drawingml/2006/main">
              <a:ext uri="{FF2B5EF4-FFF2-40B4-BE49-F238E27FC236}">
                <a16:creationId xmlns:a16="http://schemas.microsoft.com/office/drawing/2014/main" id="{1D4719D7-8353-402A-9CE3-F4D0C2E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选课时锁定学生和课程记录，结合唯一约束降低并发写入风险。</a:t>
            </a:r>
          </a:p>
        </p:txBody>
      </p:sp>
      <p:sp>
        <p:nvSpPr>
          <p:cNvPr id="24" name="footer-8">
            <a:extLst xmlns:a="http://schemas.openxmlformats.org/drawingml/2006/main">
              <a:ext uri="{FF2B5EF4-FFF2-40B4-BE49-F238E27FC236}">
                <a16:creationId xmlns:a16="http://schemas.microsoft.com/office/drawing/2014/main" id="{42BB1950-71D0-4186-8AA0-37E27DE6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资料来源：README、CLAUDE、数据库表结构说明</a:t>
            </a:r>
          </a:p>
        </p:txBody>
      </p:sp>
      <p:sp>
        <p:nvSpPr>
          <p:cNvPr id="25" name="page-8">
            <a:extLst xmlns:a="http://schemas.openxmlformats.org/drawingml/2006/main">
              <a:ext uri="{FF2B5EF4-FFF2-40B4-BE49-F238E27FC236}">
                <a16:creationId xmlns:a16="http://schemas.microsoft.com/office/drawing/2014/main" id="{1AF7795F-96A4-498D-A4A3-BB42EF8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02114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1E6423D4-8EEA-4822-84EC-3156ABA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08 演示路线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1C67162C-403B-4A54-95BA-7D698A0A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答辩现场建议按“登录 → 选课 → 校验失败 → 成绩/GPA”展示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5C3E862F-0360-41CA-8298-12E5430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这条路线能在较短时间内覆盖角色、业务规则、数据约束和用户体验。</a:t>
            </a:r>
          </a:p>
        </p:txBody>
      </p:sp>
      <p:sp>
        <p:nvSpPr>
          <p:cNvPr id="4" name="demo-line-0">
            <a:extLst xmlns:a="http://schemas.openxmlformats.org/drawingml/2006/main">
              <a:ext uri="{FF2B5EF4-FFF2-40B4-BE49-F238E27FC236}">
                <a16:creationId xmlns:a16="http://schemas.microsoft.com/office/drawing/2014/main" id="{57181930-3AE2-4938-9A7C-4B061666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62150"/>
            <a:ext cx="9220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demo-index-0">
            <a:extLst xmlns:a="http://schemas.openxmlformats.org/drawingml/2006/main">
              <a:ext uri="{FF2B5EF4-FFF2-40B4-BE49-F238E27FC236}">
                <a16:creationId xmlns:a16="http://schemas.microsoft.com/office/drawing/2014/main" id="{1B1F4D68-917F-4592-96BC-EEB6455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6" name="demo-index-text-0">
            <a:extLst xmlns:a="http://schemas.openxmlformats.org/drawingml/2006/main">
              <a:ext uri="{FF2B5EF4-FFF2-40B4-BE49-F238E27FC236}">
                <a16:creationId xmlns:a16="http://schemas.microsoft.com/office/drawing/2014/main" id="{B44CD96C-E1E5-4337-BE81-C3526F8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05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demo-role-0">
            <a:extLst xmlns:a="http://schemas.openxmlformats.org/drawingml/2006/main">
              <a:ext uri="{FF2B5EF4-FFF2-40B4-BE49-F238E27FC236}">
                <a16:creationId xmlns:a16="http://schemas.microsoft.com/office/drawing/2014/main" id="{18BA840C-F286-4F99-8570-EDA0DB1A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8" name="demo-desc-0">
            <a:extLst xmlns:a="http://schemas.openxmlformats.org/drawingml/2006/main">
              <a:ext uri="{FF2B5EF4-FFF2-40B4-BE49-F238E27FC236}">
                <a16:creationId xmlns:a16="http://schemas.microsoft.com/office/drawing/2014/main" id="{2083BB58-B193-472A-B90E-FAC7C050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050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配置课程、教师、学生与选退课窗口</a:t>
            </a:r>
          </a:p>
        </p:txBody>
      </p:sp>
      <p:sp>
        <p:nvSpPr>
          <p:cNvPr id="9" name="demo-line-1">
            <a:extLst xmlns:a="http://schemas.openxmlformats.org/drawingml/2006/main">
              <a:ext uri="{FF2B5EF4-FFF2-40B4-BE49-F238E27FC236}">
                <a16:creationId xmlns:a16="http://schemas.microsoft.com/office/drawing/2014/main" id="{D9C76056-74E7-4189-AEF3-FB5C3F9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9220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demo-index-1">
            <a:extLst xmlns:a="http://schemas.openxmlformats.org/drawingml/2006/main">
              <a:ext uri="{FF2B5EF4-FFF2-40B4-BE49-F238E27FC236}">
                <a16:creationId xmlns:a16="http://schemas.microsoft.com/office/drawing/2014/main" id="{7B80729D-1C3B-4C16-83A1-97C4E9E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demo-index-text-1">
            <a:extLst xmlns:a="http://schemas.openxmlformats.org/drawingml/2006/main">
              <a:ext uri="{FF2B5EF4-FFF2-40B4-BE49-F238E27FC236}">
                <a16:creationId xmlns:a16="http://schemas.microsoft.com/office/drawing/2014/main" id="{2B0D55A6-A06A-4C9D-97DD-3BE98B0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98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emo-role-1">
            <a:extLst xmlns:a="http://schemas.openxmlformats.org/drawingml/2006/main">
              <a:ext uri="{FF2B5EF4-FFF2-40B4-BE49-F238E27FC236}">
                <a16:creationId xmlns:a16="http://schemas.microsoft.com/office/drawing/2014/main" id="{B59AC117-C381-43A9-9929-53BF1F8B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0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3" name="demo-desc-1">
            <a:extLst xmlns:a="http://schemas.openxmlformats.org/drawingml/2006/main">
              <a:ext uri="{FF2B5EF4-FFF2-40B4-BE49-F238E27FC236}">
                <a16:creationId xmlns:a16="http://schemas.microsoft.com/office/drawing/2014/main" id="{9145C2CE-1126-426C-A70B-38FC071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筛选课程并尝试选课</a:t>
            </a:r>
          </a:p>
        </p:txBody>
      </p:sp>
      <p:sp>
        <p:nvSpPr>
          <p:cNvPr id="14" name="demo-line-2">
            <a:extLst xmlns:a="http://schemas.openxmlformats.org/drawingml/2006/main">
              <a:ext uri="{FF2B5EF4-FFF2-40B4-BE49-F238E27FC236}">
                <a16:creationId xmlns:a16="http://schemas.microsoft.com/office/drawing/2014/main" id="{B46F7B01-A736-4F5E-AEFE-7287DE66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9220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demo-index-2">
            <a:extLst xmlns:a="http://schemas.openxmlformats.org/drawingml/2006/main">
              <a:ext uri="{FF2B5EF4-FFF2-40B4-BE49-F238E27FC236}">
                <a16:creationId xmlns:a16="http://schemas.microsoft.com/office/drawing/2014/main" id="{25A3ED3F-89C4-472B-9145-A72A2FB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57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0">
            <a:solidFill>
              <a:srgbClr val="D94F45"/>
            </a:solidFill>
            <a:prstDash val="solid"/>
          </a:ln>
        </p:spPr>
      </p:sp>
      <p:sp>
        <p:nvSpPr>
          <p:cNvPr id="16" name="demo-index-text-2">
            <a:extLst xmlns:a="http://schemas.openxmlformats.org/drawingml/2006/main">
              <a:ext uri="{FF2B5EF4-FFF2-40B4-BE49-F238E27FC236}">
                <a16:creationId xmlns:a16="http://schemas.microsoft.com/office/drawing/2014/main" id="{7FD95735-74B1-4109-8B9B-7E7B92CA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14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demo-role-2">
            <a:extLst xmlns:a="http://schemas.openxmlformats.org/drawingml/2006/main">
              <a:ext uri="{FF2B5EF4-FFF2-40B4-BE49-F238E27FC236}">
                <a16:creationId xmlns:a16="http://schemas.microsoft.com/office/drawing/2014/main" id="{1A954820-E425-46C1-AEEB-8FDADE9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94F45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8" name="demo-desc-2">
            <a:extLst xmlns:a="http://schemas.openxmlformats.org/drawingml/2006/main">
              <a:ext uri="{FF2B5EF4-FFF2-40B4-BE49-F238E27FC236}">
                <a16:creationId xmlns:a16="http://schemas.microsoft.com/office/drawing/2014/main" id="{29B0C02D-D220-4F79-B7A6-205FF13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147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触发容量/时间/先修/互斥/学分校验提示</a:t>
            </a:r>
          </a:p>
        </p:txBody>
      </p:sp>
      <p:sp>
        <p:nvSpPr>
          <p:cNvPr id="19" name="demo-line-3">
            <a:extLst xmlns:a="http://schemas.openxmlformats.org/drawingml/2006/main">
              <a:ext uri="{FF2B5EF4-FFF2-40B4-BE49-F238E27FC236}">
                <a16:creationId xmlns:a16="http://schemas.microsoft.com/office/drawing/2014/main" id="{56D35830-A95C-49E9-8665-5965EC4F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9220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demo-index-3">
            <a:extLst xmlns:a="http://schemas.openxmlformats.org/drawingml/2006/main">
              <a:ext uri="{FF2B5EF4-FFF2-40B4-BE49-F238E27FC236}">
                <a16:creationId xmlns:a16="http://schemas.microsoft.com/office/drawing/2014/main" id="{EAA88A3D-B830-406B-9720-66FBCFB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21" name="demo-index-text-3">
            <a:extLst xmlns:a="http://schemas.openxmlformats.org/drawingml/2006/main">
              <a:ext uri="{FF2B5EF4-FFF2-40B4-BE49-F238E27FC236}">
                <a16:creationId xmlns:a16="http://schemas.microsoft.com/office/drawing/2014/main" id="{ACBF6766-1D03-46CF-AA17-5980FDE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195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demo-role-3">
            <a:extLst xmlns:a="http://schemas.openxmlformats.org/drawingml/2006/main">
              <a:ext uri="{FF2B5EF4-FFF2-40B4-BE49-F238E27FC236}">
                <a16:creationId xmlns:a16="http://schemas.microsoft.com/office/drawing/2014/main" id="{8C21F317-FDD8-4E12-A636-6AC54FC3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1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23" name="demo-desc-3">
            <a:extLst xmlns:a="http://schemas.openxmlformats.org/drawingml/2006/main">
              <a:ext uri="{FF2B5EF4-FFF2-40B4-BE49-F238E27FC236}">
                <a16:creationId xmlns:a16="http://schemas.microsoft.com/office/drawing/2014/main" id="{7FE2D825-F922-4168-8B46-2E23FBE9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查看所授课程学生并录入成绩</a:t>
            </a:r>
          </a:p>
        </p:txBody>
      </p:sp>
      <p:sp>
        <p:nvSpPr>
          <p:cNvPr id="24" name="demo-line-4">
            <a:extLst xmlns:a="http://schemas.openxmlformats.org/drawingml/2006/main">
              <a:ext uri="{FF2B5EF4-FFF2-40B4-BE49-F238E27FC236}">
                <a16:creationId xmlns:a16="http://schemas.microsoft.com/office/drawing/2014/main" id="{28C23B25-95E7-433A-9D74-9D163F6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81550"/>
            <a:ext cx="9220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demo-index-4">
            <a:extLst xmlns:a="http://schemas.openxmlformats.org/drawingml/2006/main">
              <a:ext uri="{FF2B5EF4-FFF2-40B4-BE49-F238E27FC236}">
                <a16:creationId xmlns:a16="http://schemas.microsoft.com/office/drawing/2014/main" id="{E346843A-9113-41AE-AD10-82DB3F2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67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D63"/>
          </a:solidFill>
          <a:ln xmlns:a="http://schemas.openxmlformats.org/drawingml/2006/main" w="0">
            <a:solidFill>
              <a:srgbClr val="3F9D63"/>
            </a:solidFill>
            <a:prstDash val="solid"/>
          </a:ln>
        </p:spPr>
      </p:sp>
      <p:sp>
        <p:nvSpPr>
          <p:cNvPr id="26" name="demo-index-text-4">
            <a:extLst xmlns:a="http://schemas.openxmlformats.org/drawingml/2006/main">
              <a:ext uri="{FF2B5EF4-FFF2-40B4-BE49-F238E27FC236}">
                <a16:creationId xmlns:a16="http://schemas.microsoft.com/office/drawing/2014/main" id="{31893B04-94D2-4CE3-B284-3D35244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24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demo-role-4">
            <a:extLst xmlns:a="http://schemas.openxmlformats.org/drawingml/2006/main">
              <a:ext uri="{FF2B5EF4-FFF2-40B4-BE49-F238E27FC236}">
                <a16:creationId xmlns:a16="http://schemas.microsoft.com/office/drawing/2014/main" id="{C7834A89-FA52-468C-8B90-46B7FCC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F9D6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28" name="demo-desc-4">
            <a:extLst xmlns:a="http://schemas.openxmlformats.org/drawingml/2006/main">
              <a:ext uri="{FF2B5EF4-FFF2-40B4-BE49-F238E27FC236}">
                <a16:creationId xmlns:a16="http://schemas.microsoft.com/office/drawing/2014/main" id="{68D9B51F-1666-4387-A322-363A1208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244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查看成绩报表与 GPA</a:t>
            </a:r>
          </a:p>
        </p:txBody>
      </p:sp>
      <p:sp>
        <p:nvSpPr>
          <p:cNvPr id="29" name="demo-tip">
            <a:extLst xmlns:a="http://schemas.openxmlformats.org/drawingml/2006/main">
              <a:ext uri="{FF2B5EF4-FFF2-40B4-BE49-F238E27FC236}">
                <a16:creationId xmlns:a16="http://schemas.microsoft.com/office/drawing/2014/main" id="{9BF5D18B-837D-4552-905C-FB6BB9D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演示账号密码：123456；示例管理员：admin / admin_jiaowu。</a:t>
            </a:r>
          </a:p>
        </p:txBody>
      </p:sp>
      <p:sp>
        <p:nvSpPr>
          <p:cNvPr id="30" name="footer-9">
            <a:extLst xmlns:a="http://schemas.openxmlformats.org/drawingml/2006/main">
              <a:ext uri="{FF2B5EF4-FFF2-40B4-BE49-F238E27FC236}">
                <a16:creationId xmlns:a16="http://schemas.microsoft.com/office/drawing/2014/main" id="{32DB1620-297F-4142-BEED-109F1005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资料来源：README、Next_Adjust、数据库表结构说明</a:t>
            </a:r>
          </a:p>
        </p:txBody>
      </p:sp>
      <p:sp>
        <p:nvSpPr>
          <p:cNvPr id="31" name="page-9">
            <a:extLst xmlns:a="http://schemas.openxmlformats.org/drawingml/2006/main">
              <a:ext uri="{FF2B5EF4-FFF2-40B4-BE49-F238E27FC236}">
                <a16:creationId xmlns:a16="http://schemas.microsoft.com/office/drawing/2014/main" id="{02F62A03-7B81-4FD6-AD00-10A3CE5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58585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inal-header">
            <a:extLst xmlns:a="http://schemas.openxmlformats.org/drawingml/2006/main">
              <a:ext uri="{FF2B5EF4-FFF2-40B4-BE49-F238E27FC236}">
                <a16:creationId xmlns:a16="http://schemas.microsoft.com/office/drawing/2014/main" id="{3FF906F1-F6C6-4B94-83AE-5AD327D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102033"/>
            </a:solidFill>
            <a:prstDash val="solid"/>
          </a:ln>
        </p:spPr>
      </p:sp>
      <p:sp>
        <p:nvSpPr>
          <p:cNvPr id="2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F637D3CB-ED52-4109-9096-4D12164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final-kicker">
            <a:extLst xmlns:a="http://schemas.openxmlformats.org/drawingml/2006/main">
              <a:ext uri="{FF2B5EF4-FFF2-40B4-BE49-F238E27FC236}">
                <a16:creationId xmlns:a16="http://schemas.microsoft.com/office/drawing/2014/main" id="{2FA2C0B1-C192-4AC1-BB99-1AEEC13C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9D7F5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4" name="final-title">
            <a:extLst xmlns:a="http://schemas.openxmlformats.org/drawingml/2006/main">
              <a:ext uri="{FF2B5EF4-FFF2-40B4-BE49-F238E27FC236}">
                <a16:creationId xmlns:a16="http://schemas.microsoft.com/office/drawing/2014/main" id="{65FB81C7-1126-4324-9771-9DE1FE9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从选课管理系统到规则驱动平台</a:t>
            </a:r>
          </a:p>
        </p:txBody>
      </p:sp>
      <p:sp>
        <p:nvSpPr>
          <p:cNvPr id="5" name="final-sub">
            <a:extLst xmlns:a="http://schemas.openxmlformats.org/drawingml/2006/main">
              <a:ext uri="{FF2B5EF4-FFF2-40B4-BE49-F238E27FC236}">
                <a16:creationId xmlns:a16="http://schemas.microsoft.com/office/drawing/2014/main" id="{19798EB7-04C6-4045-801D-CBA11E9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项目完成了可运行的基础业务闭环，并把复杂选课约束沉淀为可解释、可扩展的校验规则。</a:t>
            </a:r>
          </a:p>
        </p:txBody>
      </p:sp>
      <p:sp>
        <p:nvSpPr>
          <p:cNvPr id="6" name="final-row-0">
            <a:extLst xmlns:a="http://schemas.openxmlformats.org/drawingml/2006/main">
              <a:ext uri="{FF2B5EF4-FFF2-40B4-BE49-F238E27FC236}">
                <a16:creationId xmlns:a16="http://schemas.microsoft.com/office/drawing/2014/main" id="{ABE3F8FB-57D5-4FE0-9F52-5E2BFCB3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9753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final-row-bar-0">
            <a:extLst xmlns:a="http://schemas.openxmlformats.org/drawingml/2006/main">
              <a:ext uri="{FF2B5EF4-FFF2-40B4-BE49-F238E27FC236}">
                <a16:creationId xmlns:a16="http://schemas.microsoft.com/office/drawing/2014/main" id="{2CB5A1C6-5638-4327-90C6-EE7029EF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8" name="final-row-title-0">
            <a:extLst xmlns:a="http://schemas.openxmlformats.org/drawingml/2006/main">
              <a:ext uri="{FF2B5EF4-FFF2-40B4-BE49-F238E27FC236}">
                <a16:creationId xmlns:a16="http://schemas.microsoft.com/office/drawing/2014/main" id="{30B360B9-3CAF-4D40-8E59-2C36B698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76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完成度</a:t>
            </a:r>
          </a:p>
        </p:txBody>
      </p:sp>
      <p:sp>
        <p:nvSpPr>
          <p:cNvPr id="9" name="final-row-body-0">
            <a:extLst xmlns:a="http://schemas.openxmlformats.org/drawingml/2006/main">
              <a:ext uri="{FF2B5EF4-FFF2-40B4-BE49-F238E27FC236}">
                <a16:creationId xmlns:a16="http://schemas.microsoft.com/office/drawing/2014/main" id="{96FE9625-D4E7-4FDA-88D9-8A62582F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861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三角色登录、课程管理、选退课、成绩录入、GPA 查询、仪表盘与 AI 辅助能力已经形成闭环。</a:t>
            </a:r>
          </a:p>
        </p:txBody>
      </p:sp>
      <p:sp>
        <p:nvSpPr>
          <p:cNvPr id="10" name="final-row-1">
            <a:extLst xmlns:a="http://schemas.openxmlformats.org/drawingml/2006/main">
              <a:ext uri="{FF2B5EF4-FFF2-40B4-BE49-F238E27FC236}">
                <a16:creationId xmlns:a16="http://schemas.microsoft.com/office/drawing/2014/main" id="{301F0FCD-B6A6-445A-88A8-FA0117A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9753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inal-row-bar-1">
            <a:extLst xmlns:a="http://schemas.openxmlformats.org/drawingml/2006/main">
              <a:ext uri="{FF2B5EF4-FFF2-40B4-BE49-F238E27FC236}">
                <a16:creationId xmlns:a16="http://schemas.microsoft.com/office/drawing/2014/main" id="{0B221FE7-6E46-4FD0-B432-18B9E60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2" name="final-row-title-1">
            <a:extLst xmlns:a="http://schemas.openxmlformats.org/drawingml/2006/main">
              <a:ext uri="{FF2B5EF4-FFF2-40B4-BE49-F238E27FC236}">
                <a16:creationId xmlns:a16="http://schemas.microsoft.com/office/drawing/2014/main" id="{A3EE99E2-D534-4D0D-B7D2-4FDF2BF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95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技术亮点</a:t>
            </a:r>
          </a:p>
        </p:txBody>
      </p:sp>
      <p:sp>
        <p:nvSpPr>
          <p:cNvPr id="13" name="final-row-body-1">
            <a:extLst xmlns:a="http://schemas.openxmlformats.org/drawingml/2006/main">
              <a:ext uri="{FF2B5EF4-FFF2-40B4-BE49-F238E27FC236}">
                <a16:creationId xmlns:a16="http://schemas.microsoft.com/office/drawing/2014/main" id="{8B187BC1-BBBA-4304-8B88-2B36CE6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0525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八重选课校验、规则表配置、统一响应、角色隔离、事务与悲观锁共同保证业务一致性。</a:t>
            </a:r>
          </a:p>
        </p:txBody>
      </p:sp>
      <p:sp>
        <p:nvSpPr>
          <p:cNvPr id="14" name="final-row-2">
            <a:extLst xmlns:a="http://schemas.openxmlformats.org/drawingml/2006/main">
              <a:ext uri="{FF2B5EF4-FFF2-40B4-BE49-F238E27FC236}">
                <a16:creationId xmlns:a16="http://schemas.microsoft.com/office/drawing/2014/main" id="{EE5E4682-8609-49E7-9100-BB8E738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753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final-row-bar-2">
            <a:extLst xmlns:a="http://schemas.openxmlformats.org/drawingml/2006/main">
              <a:ext uri="{FF2B5EF4-FFF2-40B4-BE49-F238E27FC236}">
                <a16:creationId xmlns:a16="http://schemas.microsoft.com/office/drawing/2014/main" id="{5F6572E5-B6D1-4D21-8BB2-716ED31A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16" name="final-row-title-2">
            <a:extLst xmlns:a="http://schemas.openxmlformats.org/drawingml/2006/main">
              <a:ext uri="{FF2B5EF4-FFF2-40B4-BE49-F238E27FC236}">
                <a16:creationId xmlns:a16="http://schemas.microsoft.com/office/drawing/2014/main" id="{29410534-21DA-45AE-89E1-72B3F0B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897B"/>
                </a:solidFill>
                <a:latin typeface="Microsoft YaHei"/>
                <a:ea typeface="Microsoft YaHei"/>
                <a:cs typeface="Microsoft YaHei"/>
              </a:rPr>
              <a:t>优化方向</a:t>
            </a:r>
          </a:p>
        </p:txBody>
      </p:sp>
      <p:sp>
        <p:nvSpPr>
          <p:cNvPr id="17" name="final-row-body-2">
            <a:extLst xmlns:a="http://schemas.openxmlformats.org/drawingml/2006/main">
              <a:ext uri="{FF2B5EF4-FFF2-40B4-BE49-F238E27FC236}">
                <a16:creationId xmlns:a16="http://schemas.microsoft.com/office/drawing/2014/main" id="{DFF23D0A-0DE4-4209-B696-69CCF25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244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后续可继续扩展选课优先级、毕业学分校验、培养方案推荐和智能排课能力。</a:t>
            </a:r>
          </a:p>
        </p:txBody>
      </p:sp>
      <p:sp>
        <p:nvSpPr>
          <p:cNvPr id="18" name="final-thanks">
            <a:extLst xmlns:a="http://schemas.openxmlformats.org/drawingml/2006/main">
              <a:ext uri="{FF2B5EF4-FFF2-40B4-BE49-F238E27FC236}">
                <a16:creationId xmlns:a16="http://schemas.microsoft.com/office/drawing/2014/main" id="{D0880DDC-579B-4982-B8AF-EBF9D4F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8222F"/>
                </a:solidFill>
                <a:latin typeface="Microsoft YaHei"/>
                <a:ea typeface="Microsoft YaHei"/>
                <a:cs typeface="Microsoft YaHei"/>
              </a:rPr>
              <a:t>谢谢各位老师，欢迎提问</a:t>
            </a:r>
          </a:p>
        </p:txBody>
      </p:sp>
      <p:sp>
        <p:nvSpPr>
          <p:cNvPr id="19" name="final-page">
            <a:extLst xmlns:a="http://schemas.openxmlformats.org/drawingml/2006/main">
              <a:ext uri="{FF2B5EF4-FFF2-40B4-BE49-F238E27FC236}">
                <a16:creationId xmlns:a16="http://schemas.microsoft.com/office/drawing/2014/main" id="{8428B418-7727-4C10-B2B9-EE1F268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D69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026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2026-06-29T06:45:05.2070000Z</dcterms:created>
  <dcterms:modified xsi:type="dcterms:W3CDTF">2026-06-29T06:45:05.2070000Z</dcterms:modified>
</coreProperties>
</file>